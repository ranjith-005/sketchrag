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2aebc0a-ac02-f85a-2511-c1527a0a5edb}">
          <p14:sldIdLst>
            <p14:sldId id="256"/>
            <p14:sldId id="257"/>
            <p14:sldId id="258"/>
          </p14:sldIdLst>
        </p14:section>
        <p14:section name="Method" id="{eba0c5ca-67fb-8259-7e21-455a19f7b6d0}">
          <p14:sldIdLst>
            <p14:sldId id="259"/>
            <p14:sldId id="260"/>
            <p14:sldId id="261"/>
            <p14:sldId id="262"/>
          </p14:sldIdLst>
        </p14:section>
        <p14:section name="Results" id="{c34d0b2d-b66d-b0d7-1b37-2269c4b0caf8}">
          <p14:sldIdLst>
            <p14:sldId id="263"/>
            <p14:sldId id="264"/>
            <p14:sldId id="265"/>
            <p14:sldId id="266"/>
            <p14:sldId id="267"/>
            <p14:sldId id="268"/>
          </p14:sldIdLst>
        </p14:section>
        <p14:section name="Demo and conclusion" id="{9b7a2d54-ccf5-1c24-c174-0e2422999237}">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9AB2"/>
                </a:solidFill>
                <a:latin typeface="+mn-lt"/>
              </a:defRPr>
            </a:pPr>
            <a:r>
              <a:rPr sz="1300" b="0" i="0" u="none" strike="noStrike">
                <a:solidFill>
                  <a:srgbClr val="8A9AB2"/>
                </a:solidFill>
                <a:latin typeface="+mn-lt"/>
              </a:rPr>
              <a:t>Average task score (× 100), 350 questions</a:t>
            </a:r>
          </a:p>
        </c:rich>
      </c:tx>
      <c:layout/>
      <c:overlay val="0"/>
    </c:title>
    <c:autoTitleDeleted val="0"/>
    <c:plotArea>
      <c:layout/>
      <c:barChart>
        <c:barDir val="bar"/>
        <c:grouping val="clustered"/>
        <c:varyColors val="0"/>
        <c:ser>
          <c:idx val="0"/>
          <c:order val="0"/>
          <c:tx>
            <c:strRef>
              <c:f>Sheet1!$B$1</c:f>
              <c:strCache>
                <c:ptCount val="1"/>
                <c:pt idx="0">
                  <c:v>Average score</c:v>
                </c:pt>
              </c:strCache>
            </c:strRef>
          </c:tx>
          <c:spPr>
            <a:solidFill>
              <a:srgbClr val="FBBF24"/>
            </a:solidFill>
            <a:effectLst/>
          </c:spPr>
          <c:invertIfNegative val="0"/>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FBBF24"/>
              </a:solidFill>
              <a:effectLst/>
            </c:spPr>
          </c:dPt>
          <c:dPt>
            <c:idx val="1"/>
            <c:invertIfNegative val="0"/>
            <c:bubble3D val="0"/>
            <c:spPr>
              <a:solidFill>
                <a:srgbClr val="2F7F74"/>
              </a:solidFill>
              <a:effectLst/>
            </c:spPr>
          </c:dPt>
          <c:dPt>
            <c:idx val="2"/>
            <c:invertIfNegative val="0"/>
            <c:bubble3D val="0"/>
            <c:spPr>
              <a:solidFill>
                <a:srgbClr val="2DD4BF"/>
              </a:solidFill>
              <a:effectLst/>
            </c:spPr>
          </c:dPt>
          <c:dPt>
            <c:idx val="3"/>
            <c:invertIfNegative val="0"/>
            <c:bubble3D val="0"/>
            <c:spPr>
              <a:solidFill>
                <a:srgbClr val="3B4A63"/>
              </a:solidFill>
              <a:effectLst/>
            </c:spPr>
          </c:dPt>
          <c:dPt>
            <c:idx val="4"/>
            <c:invertIfNegative val="0"/>
            <c:bubble3D val="0"/>
            <c:spPr>
              <a:solidFill>
                <a:srgbClr val="3B4A63"/>
              </a:solidFill>
              <a:effectLst/>
            </c:spPr>
          </c:dPt>
          <c:dPt>
            <c:idx val="5"/>
            <c:invertIfNegative val="0"/>
            <c:bubble3D val="0"/>
            <c:spPr>
              <a:solidFill>
                <a:srgbClr val="3B4A63"/>
              </a:solidFill>
              <a:effectLst/>
            </c:spPr>
          </c:dPt>
          <c:dPt>
            <c:idx val="6"/>
            <c:invertIfNegative val="0"/>
            <c:bubble3D val="0"/>
            <c:spPr>
              <a:solidFill>
                <a:srgbClr val="3B4A63"/>
              </a:solidFill>
              <a:effectLst/>
            </c:spPr>
          </c:dPt>
          <c:dPt>
            <c:idx val="7"/>
            <c:invertIfNegative val="0"/>
            <c:bubble3D val="0"/>
            <c:spPr>
              <a:solidFill>
                <a:srgbClr val="2F7F74"/>
              </a:solidFill>
              <a:effectLst/>
            </c:spPr>
          </c:dPt>
          <c:dPt>
            <c:idx val="8"/>
            <c:invertIfNegative val="0"/>
            <c:bubble3D val="0"/>
            <c:spPr>
              <a:solidFill>
                <a:srgbClr val="2F7F74"/>
              </a:solidFill>
              <a:effectLst/>
            </c:spPr>
          </c:dPt>
          <c:cat>
            <c:multiLvlStrRef>
              <c:f>Sheet1!$A$2:$A$10</c:f>
              <c:multiLvlStrCache>
                <c:ptCount val="9"/>
                <c:lvl>
                  <c:pt idx="0">
                    <c:v>BM25 RAG</c:v>
                  </c:pt>
                  <c:pt idx="1">
                    <c:v>SketchRAG always raw</c:v>
                  </c:pt>
                  <c:pt idx="2">
                    <c:v>SketchRAG + gate</c:v>
                  </c:pt>
                  <c:pt idx="3">
                    <c:v>SARA-lite</c:v>
                  </c:pt>
                  <c:pt idx="4">
                    <c:v>Full context</c:v>
                  </c:pt>
                  <c:pt idx="5">
                    <c:v>Dense RAG</c:v>
                  </c:pt>
                  <c:pt idx="6">
                    <c:v>AMBER-lite</c:v>
                  </c:pt>
                  <c:pt idx="7">
                    <c:v>SketchRAG LLM agent</c:v>
                  </c:pt>
                  <c:pt idx="8">
                    <c:v>SketchRAG digest only</c:v>
                  </c:pt>
                </c:lvl>
              </c:multiLvlStrCache>
            </c:multiLvlStrRef>
          </c:cat>
          <c:val>
            <c:numRef>
              <c:f>Sheet1!$B$2:$B$10</c:f>
              <c:numCache>
                <c:formatCode>General</c:formatCode>
                <c:ptCount val="9"/>
                <c:pt idx="0">
                  <c:v>46</c:v>
                </c:pt>
                <c:pt idx="1">
                  <c:v>42.5</c:v>
                </c:pt>
                <c:pt idx="2">
                  <c:v>41.7</c:v>
                </c:pt>
                <c:pt idx="3">
                  <c:v>38.2</c:v>
                </c:pt>
                <c:pt idx="4">
                  <c:v>38.1</c:v>
                </c:pt>
                <c:pt idx="5">
                  <c:v>35.8</c:v>
                </c:pt>
                <c:pt idx="6">
                  <c:v>32</c:v>
                </c:pt>
                <c:pt idx="7">
                  <c:v>30.1</c:v>
                </c:pt>
                <c:pt idx="8">
                  <c:v>29.9</c:v>
                </c:pt>
              </c:numCache>
            </c:numRef>
          </c:val>
        </c:ser>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8A9AB2"/>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b"/>
        <c:majorGridlines>
          <c:spPr>
            <a:ln w="9525" cap="flat">
              <a:solidFill>
                <a:srgbClr val="23324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8A9AB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9AB2"/>
                </a:solidFill>
                <a:latin typeface="+mn-lt"/>
              </a:defRPr>
            </a:pPr>
            <a:r>
              <a:rPr sz="1300" b="0" i="0" u="none" strike="noStrike">
                <a:solidFill>
                  <a:srgbClr val="8A9AB2"/>
                </a:solidFill>
                <a:latin typeface="+mn-lt"/>
              </a:rPr>
              <a:t>Mean LLM context tokens per question</a:t>
            </a:r>
          </a:p>
        </c:rich>
      </c:tx>
      <c:layout/>
      <c:overlay val="0"/>
    </c:title>
    <c:autoTitleDeleted val="0"/>
    <c:plotArea>
      <c:layout/>
      <c:barChart>
        <c:barDir val="bar"/>
        <c:grouping val="clustered"/>
        <c:varyColors val="0"/>
        <c:ser>
          <c:idx val="0"/>
          <c:order val="0"/>
          <c:tx>
            <c:strRef>
              <c:f>Sheet1!$B$1</c:f>
              <c:strCache>
                <c:ptCount val="1"/>
                <c:pt idx="0">
                  <c:v>Tokens</c:v>
                </c:pt>
              </c:strCache>
            </c:strRef>
          </c:tx>
          <c:spPr>
            <a:solidFill>
              <a:srgbClr val="2DD4BF"/>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2DD4BF"/>
              </a:solidFill>
              <a:effectLst/>
            </c:spPr>
          </c:dPt>
          <c:dPt>
            <c:idx val="1"/>
            <c:invertIfNegative val="0"/>
            <c:bubble3D val="0"/>
            <c:spPr>
              <a:solidFill>
                <a:srgbClr val="2F7F74"/>
              </a:solidFill>
              <a:effectLst/>
            </c:spPr>
          </c:dPt>
          <c:dPt>
            <c:idx val="2"/>
            <c:invertIfNegative val="0"/>
            <c:bubble3D val="0"/>
            <c:spPr>
              <a:solidFill>
                <a:srgbClr val="FBBF24"/>
              </a:solidFill>
              <a:effectLst/>
            </c:spPr>
          </c:dPt>
          <c:dPt>
            <c:idx val="3"/>
            <c:invertIfNegative val="0"/>
            <c:bubble3D val="0"/>
            <c:spPr>
              <a:solidFill>
                <a:srgbClr val="3B4A63"/>
              </a:solidFill>
              <a:effectLst/>
            </c:spPr>
          </c:dPt>
          <c:dPt>
            <c:idx val="4"/>
            <c:invertIfNegative val="0"/>
            <c:bubble3D val="0"/>
            <c:spPr>
              <a:solidFill>
                <a:srgbClr val="2F7F74"/>
              </a:solidFill>
              <a:effectLst/>
            </c:spPr>
          </c:dPt>
          <c:dPt>
            <c:idx val="5"/>
            <c:invertIfNegative val="0"/>
            <c:bubble3D val="0"/>
            <c:spPr>
              <a:solidFill>
                <a:srgbClr val="3B4A63"/>
              </a:solidFill>
              <a:effectLst/>
            </c:spPr>
          </c:dPt>
          <c:dPt>
            <c:idx val="6"/>
            <c:invertIfNegative val="0"/>
            <c:bubble3D val="0"/>
            <c:spPr>
              <a:solidFill>
                <a:srgbClr val="3B4A63"/>
              </a:solidFill>
              <a:effectLst/>
            </c:spPr>
          </c:dPt>
          <c:dPt>
            <c:idx val="7"/>
            <c:invertIfNegative val="0"/>
            <c:bubble3D val="0"/>
            <c:spPr>
              <a:solidFill>
                <a:srgbClr val="2F7F74"/>
              </a:solidFill>
              <a:effectLst/>
            </c:spPr>
          </c:dPt>
          <c:dPt>
            <c:idx val="8"/>
            <c:invertIfNegative val="0"/>
            <c:bubble3D val="0"/>
            <c:spPr>
              <a:solidFill>
                <a:srgbClr val="3B4A63"/>
              </a:solidFill>
              <a:effectLst/>
            </c:spPr>
          </c:dPt>
          <c:cat>
            <c:multiLvlStrRef>
              <c:f>Sheet1!$A$2:$A$10</c:f>
              <c:multiLvlStrCache>
                <c:ptCount val="9"/>
                <c:lvl>
                  <c:pt idx="0">
                    <c:v>SketchRAG + gate</c:v>
                  </c:pt>
                  <c:pt idx="1">
                    <c:v>SketchRAG digest only</c:v>
                  </c:pt>
                  <c:pt idx="2">
                    <c:v>BM25 RAG</c:v>
                  </c:pt>
                  <c:pt idx="3">
                    <c:v>Dense RAG</c:v>
                  </c:pt>
                  <c:pt idx="4">
                    <c:v>SketchRAG always raw</c:v>
                  </c:pt>
                  <c:pt idx="5">
                    <c:v>AMBER-lite</c:v>
                  </c:pt>
                  <c:pt idx="6">
                    <c:v>SARA-lite</c:v>
                  </c:pt>
                  <c:pt idx="7">
                    <c:v>SketchRAG LLM agent</c:v>
                  </c:pt>
                  <c:pt idx="8">
                    <c:v>Full context</c:v>
                  </c:pt>
                </c:lvl>
              </c:multiLvlStrCache>
            </c:multiLvlStrRef>
          </c:cat>
          <c:val>
            <c:numRef>
              <c:f>Sheet1!$B$2:$B$10</c:f>
              <c:numCache>
                <c:formatCode>General</c:formatCode>
                <c:ptCount val="9"/>
                <c:pt idx="0">
                  <c:v>1213</c:v>
                </c:pt>
                <c:pt idx="1">
                  <c:v>1284</c:v>
                </c:pt>
                <c:pt idx="2">
                  <c:v>1327</c:v>
                </c:pt>
                <c:pt idx="3">
                  <c:v>1361</c:v>
                </c:pt>
                <c:pt idx="4">
                  <c:v>1549</c:v>
                </c:pt>
                <c:pt idx="5">
                  <c:v>2223</c:v>
                </c:pt>
                <c:pt idx="6">
                  <c:v>2435</c:v>
                </c:pt>
                <c:pt idx="7">
                  <c:v>2727</c:v>
                </c:pt>
                <c:pt idx="8">
                  <c:v>14232</c:v>
                </c:pt>
              </c:numCache>
            </c:numRef>
          </c:val>
        </c:ser>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8A9AB2"/>
                </a:solidFill>
                <a:latin typeface="+mn-lt"/>
              </a:defRPr>
            </a:pPr>
            <a:endParaRPr lang="en-US"/>
          </a:p>
        </c:txPr>
        <c:crossAx val="2094734552"/>
        <c:crosses val="autoZero"/>
        <c:auto val="1"/>
        <c:lblAlgn val="ctr"/>
        <c:noMultiLvlLbl val="1"/>
      </c:catAx>
      <c:valAx>
        <c:axId val="2094734552"/>
        <c:scaling>
          <c:orientation val="minMax"/>
          <c:max val="17000"/>
          <c:min val="0"/>
        </c:scaling>
        <c:delete val="1"/>
        <c:axPos val="b"/>
        <c:majorGridlines>
          <c:spPr>
            <a:ln w="9525" cap="flat">
              <a:solidFill>
                <a:srgbClr val="23324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8A9AB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9AB2"/>
                </a:solidFill>
                <a:latin typeface="+mn-lt"/>
              </a:defRPr>
            </a:pPr>
            <a:r>
              <a:rPr sz="1300" b="0" i="0" u="none" strike="noStrike">
                <a:solidFill>
                  <a:srgbClr val="8A9AB2"/>
                </a:solidFill>
                <a:latin typeface="+mn-lt"/>
              </a:rPr>
              <a:t>Average score on each group of questions</a:t>
            </a:r>
          </a:p>
        </c:rich>
      </c:tx>
      <c:layout/>
      <c:overlay val="0"/>
    </c:title>
    <c:autoTitleDeleted val="0"/>
    <c:plotArea>
      <c:layout/>
      <c:barChart>
        <c:barDir val="col"/>
        <c:grouping val="clustered"/>
        <c:varyColors val="0"/>
        <c:ser>
          <c:idx val="0"/>
          <c:order val="0"/>
          <c:tx>
            <c:strRef>
              <c:f>Sheet1!$B$1</c:f>
              <c:strCache>
                <c:ptCount val="1"/>
                <c:pt idx="0">
                  <c:v>Digest only</c:v>
                </c:pt>
              </c:strCache>
            </c:strRef>
          </c:tx>
          <c:spPr>
            <a:solidFill>
              <a:srgbClr val="3B4A63"/>
            </a:solidFill>
            <a:effectLst/>
          </c:spPr>
          <c:invertIfNegative val="0"/>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Gate fired (190 q)</c:v>
                  </c:pt>
                  <c:pt idx="1">
                    <c:v>Gate trusted (160 q)</c:v>
                  </c:pt>
                </c:lvl>
              </c:multiLvlStrCache>
            </c:multiLvlStrRef>
          </c:cat>
          <c:val>
            <c:numRef>
              <c:f>Sheet1!$B$2:$B$3</c:f>
              <c:numCache>
                <c:formatCode>General</c:formatCode>
                <c:ptCount val="2"/>
                <c:pt idx="0">
                  <c:v>30</c:v>
                </c:pt>
                <c:pt idx="1">
                  <c:v>31.4</c:v>
                </c:pt>
              </c:numCache>
            </c:numRef>
          </c:val>
        </c:ser>
        <c:ser>
          <c:idx val="1"/>
          <c:order val="1"/>
          <c:tx>
            <c:strRef>
              <c:f>Sheet1!$C$1</c:f>
              <c:strCache>
                <c:ptCount val="1"/>
                <c:pt idx="0">
                  <c:v>With raw evidence</c:v>
                </c:pt>
              </c:strCache>
            </c:strRef>
          </c:tx>
          <c:spPr>
            <a:solidFill>
              <a:srgbClr val="2DD4BF"/>
            </a:solidFill>
            <a:effectLst/>
          </c:spPr>
          <c:invertIfNegative val="0"/>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Gate fired (190 q)</c:v>
                  </c:pt>
                  <c:pt idx="1">
                    <c:v>Gate trusted (160 q)</c:v>
                  </c:pt>
                </c:lvl>
              </c:multiLvlStrCache>
            </c:multiLvlStrRef>
          </c:cat>
          <c:val>
            <c:numRef>
              <c:f>Sheet1!$C$2:$C$3</c:f>
              <c:numCache>
                <c:formatCode>General</c:formatCode>
                <c:ptCount val="2"/>
                <c:pt idx="0">
                  <c:v>51.5</c:v>
                </c:pt>
                <c:pt idx="1">
                  <c:v>32.2</c:v>
                </c:pt>
              </c:numCache>
            </c:numRef>
          </c:val>
        </c:ser>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8A9AB2"/>
                </a:solidFill>
                <a:latin typeface="+mn-lt"/>
              </a:defRPr>
            </a:pPr>
            <a:endParaRPr lang="en-US"/>
          </a:p>
        </c:txPr>
        <c:crossAx val="2094734552"/>
        <c:crosses val="autoZero"/>
        <c:auto val="1"/>
        <c:lblAlgn val="ctr"/>
        <c:noMultiLvlLbl val="1"/>
      </c:catAx>
      <c:valAx>
        <c:axId val="2094734552"/>
        <c:scaling>
          <c:orientation val="minMax"/>
          <c:max val="60"/>
          <c:min val="0"/>
        </c:scaling>
        <c:delete val="1"/>
        <c:axPos val="l"/>
        <c:majorGridlines>
          <c:spPr>
            <a:ln w="9525" cap="flat">
              <a:solidFill>
                <a:srgbClr val="23324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8A9AB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8A9AB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9AB2"/>
                </a:solidFill>
                <a:latin typeface="+mn-lt"/>
              </a:defRPr>
            </a:pPr>
            <a:r>
              <a:rPr sz="1300" b="0" i="0" u="none" strike="noStrike">
                <a:solidFill>
                  <a:srgbClr val="8A9AB2"/>
                </a:solidFill>
                <a:latin typeface="+mn-lt"/>
              </a:rPr>
              <a:t>Gated score per ablation (110 questions)</a:t>
            </a:r>
          </a:p>
        </c:rich>
      </c:tx>
      <c:layout/>
      <c:overlay val="0"/>
    </c:title>
    <c:autoTitleDeleted val="0"/>
    <c:plotArea>
      <c:layout/>
      <c:barChart>
        <c:barDir val="bar"/>
        <c:grouping val="clustered"/>
        <c:varyColors val="0"/>
        <c:ser>
          <c:idx val="0"/>
          <c:order val="0"/>
          <c:tx>
            <c:strRef>
              <c:f>Sheet1!$B$1</c:f>
              <c:strCache>
                <c:ptCount val="1"/>
                <c:pt idx="0">
                  <c:v>Score</c:v>
                </c:pt>
              </c:strCache>
            </c:strRef>
          </c:tx>
          <c:spPr>
            <a:solidFill>
              <a:srgbClr val="2DD4BF"/>
            </a:solidFill>
            <a:effectLst/>
          </c:spPr>
          <c:invertIfNegative val="0"/>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2DD4BF"/>
              </a:solidFill>
              <a:effectLst/>
            </c:spPr>
          </c:dPt>
          <c:dPt>
            <c:idx val="1"/>
            <c:invertIfNegative val="0"/>
            <c:bubble3D val="0"/>
            <c:spPr>
              <a:solidFill>
                <a:srgbClr val="FBBF24"/>
              </a:solidFill>
              <a:effectLst/>
            </c:spPr>
          </c:dPt>
          <c:dPt>
            <c:idx val="2"/>
            <c:invertIfNegative val="0"/>
            <c:bubble3D val="0"/>
            <c:spPr>
              <a:solidFill>
                <a:srgbClr val="3B4A63"/>
              </a:solidFill>
              <a:effectLst/>
            </c:spPr>
          </c:dPt>
          <c:dPt>
            <c:idx val="3"/>
            <c:invertIfNegative val="0"/>
            <c:bubble3D val="0"/>
            <c:spPr>
              <a:solidFill>
                <a:srgbClr val="3B4A63"/>
              </a:solidFill>
              <a:effectLst/>
            </c:spPr>
          </c:dPt>
          <c:dPt>
            <c:idx val="4"/>
            <c:invertIfNegative val="0"/>
            <c:bubble3D val="0"/>
            <c:spPr>
              <a:solidFill>
                <a:srgbClr val="3B4A63"/>
              </a:solidFill>
              <a:effectLst/>
            </c:spPr>
          </c:dPt>
          <c:dPt>
            <c:idx val="5"/>
            <c:invertIfNegative val="0"/>
            <c:bubble3D val="0"/>
            <c:spPr>
              <a:solidFill>
                <a:srgbClr val="3B4A63"/>
              </a:solidFill>
              <a:effectLst/>
            </c:spPr>
          </c:dPt>
          <c:dPt>
            <c:idx val="6"/>
            <c:invertIfNegative val="0"/>
            <c:bubble3D val="0"/>
            <c:spPr>
              <a:solidFill>
                <a:srgbClr val="3B4A63"/>
              </a:solidFill>
              <a:effectLst/>
            </c:spPr>
          </c:dPt>
          <c:cat>
            <c:multiLvlStrRef>
              <c:f>Sheet1!$A$2:$A$8</c:f>
              <c:multiLvlStrCache>
                <c:ptCount val="7"/>
                <c:lvl>
                  <c:pt idx="0">
                    <c:v>Frozen configuration</c:v>
                  </c:pt>
                  <c:pt idx="1">
                    <c:v>16-pointer reservoir per cell</c:v>
                  </c:pt>
                  <c:pt idx="2">
                    <c:v>Noise-floor confidence</c:v>
                  </c:pt>
                  <c:pt idx="3">
                    <c:v>No temporal neighbour</c:v>
                  </c:pt>
                  <c:pt idx="4">
                    <c:v>No co-occurrence check</c:v>
                  </c:pt>
                  <c:pt idx="5">
                    <c:v>Raw added, digest kept</c:v>
                  </c:pt>
                  <c:pt idx="6">
                    <c:v>CMS evidence in ranking</c:v>
                  </c:pt>
                </c:lvl>
              </c:multiLvlStrCache>
            </c:multiLvlStrRef>
          </c:cat>
          <c:val>
            <c:numRef>
              <c:f>Sheet1!$B$2:$B$8</c:f>
              <c:numCache>
                <c:formatCode>General</c:formatCode>
                <c:ptCount val="7"/>
                <c:pt idx="0">
                  <c:v>42.4</c:v>
                </c:pt>
                <c:pt idx="1">
                  <c:v>28.9</c:v>
                </c:pt>
                <c:pt idx="2">
                  <c:v>42.7</c:v>
                </c:pt>
                <c:pt idx="3">
                  <c:v>40.7</c:v>
                </c:pt>
                <c:pt idx="4">
                  <c:v>42.5</c:v>
                </c:pt>
                <c:pt idx="5">
                  <c:v>41.5</c:v>
                </c:pt>
                <c:pt idx="6">
                  <c:v>41.7</c:v>
                </c:pt>
              </c:numCache>
            </c:numRef>
          </c:val>
        </c:ser>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8A9AB2"/>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b"/>
        <c:majorGridlines>
          <c:spPr>
            <a:ln w="9525" cap="flat">
              <a:solidFill>
                <a:srgbClr val="23324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8A9AB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9AB2"/>
                </a:solidFill>
                <a:latin typeface="+mn-lt"/>
              </a:defRPr>
            </a:pPr>
            <a:r>
              <a:rPr sz="1300" b="0" i="0" u="none" strike="noStrike">
                <a:solidFill>
                  <a:srgbClr val="8A9AB2"/>
                </a:solidFill>
                <a:latin typeface="+mn-lt"/>
              </a:rPr>
              <a:t>Score vs max cells (8 → 256)</a:t>
            </a:r>
          </a:p>
        </c:rich>
      </c:tx>
      <c:layout/>
      <c:overlay val="0"/>
    </c:title>
    <c:autoTitleDeleted val="0"/>
    <c:plotArea>
      <c:layout/>
      <c:lineChart>
        <c:varyColors val="0"/>
        <c:ser>
          <c:idx val="0"/>
          <c:order val="0"/>
          <c:tx>
            <c:strRef>
              <c:f>Sheet1!$B$1</c:f>
              <c:strCache>
                <c:ptCount val="1"/>
                <c:pt idx="0">
                  <c:v>SketchRAG + gate</c:v>
                </c:pt>
              </c:strCache>
            </c:strRef>
          </c:tx>
          <c:spPr>
            <a:solidFill>
              <a:srgbClr val="2DD4BF"/>
            </a:solidFill>
            <a:ln w="31750" cap="flat">
              <a:solidFill>
                <a:srgbClr val="2DD4BF"/>
              </a:solidFill>
              <a:prstDash val="solid"/>
              <a:round/>
            </a:ln>
            <a:effectLst/>
          </c:spPr>
          <c:invertIfNegative val="0"/>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marker>
            <c:symbol val="circle"/>
            <c:size val="7"/>
            <c:spPr>
              <a:solidFill>
                <a:srgbClr val="2DD4BF"/>
              </a:solidFill>
              <a:ln w="9525" cap="flat">
                <a:solidFill>
                  <a:srgbClr val="2DD4BF"/>
                </a:solidFill>
                <a:prstDash val="solid"/>
                <a:round/>
              </a:ln>
              <a:effectLst/>
            </c:spPr>
          </c:marker>
          <c:cat>
            <c:multiLvlStrRef>
              <c:f>Sheet1!$A$2:$A$7</c:f>
              <c:multiLvlStrCache>
                <c:ptCount val="6"/>
                <c:lvl>
                  <c:pt idx="0">
                    <c:v>8</c:v>
                  </c:pt>
                  <c:pt idx="1">
                    <c:v>16</c:v>
                  </c:pt>
                  <c:pt idx="2">
                    <c:v>32</c:v>
                  </c:pt>
                  <c:pt idx="3">
                    <c:v>64</c:v>
                  </c:pt>
                  <c:pt idx="4">
                    <c:v>128</c:v>
                  </c:pt>
                  <c:pt idx="5">
                    <c:v>256</c:v>
                  </c:pt>
                </c:lvl>
              </c:multiLvlStrCache>
            </c:multiLvlStrRef>
          </c:cat>
          <c:val>
            <c:numRef>
              <c:f>Sheet1!$B$2:$B$7</c:f>
              <c:numCache>
                <c:formatCode>General</c:formatCode>
                <c:ptCount val="6"/>
                <c:pt idx="0">
                  <c:v>43.2</c:v>
                </c:pt>
                <c:pt idx="1">
                  <c:v>40.8</c:v>
                </c:pt>
                <c:pt idx="2">
                  <c:v>45.5</c:v>
                </c:pt>
                <c:pt idx="3">
                  <c:v>42.4</c:v>
                </c:pt>
                <c:pt idx="4">
                  <c:v>40.5</c:v>
                </c:pt>
                <c:pt idx="5">
                  <c:v>40.3</c:v>
                </c:pt>
              </c:numCache>
            </c:numRef>
          </c:val>
          <c:smooth val="0"/>
        </c:ser>
        <c:ser>
          <c:idx val="1"/>
          <c:order val="1"/>
          <c:tx>
            <c:strRef>
              <c:f>Sheet1!$C$1</c:f>
              <c:strCache>
                <c:ptCount val="1"/>
                <c:pt idx="0">
                  <c:v>Digest only</c:v>
                </c:pt>
              </c:strCache>
            </c:strRef>
          </c:tx>
          <c:spPr>
            <a:solidFill>
              <a:srgbClr val="8A9AB2"/>
            </a:solidFill>
            <a:ln w="31750" cap="flat">
              <a:solidFill>
                <a:srgbClr val="8A9AB2"/>
              </a:solidFill>
              <a:prstDash val="solid"/>
              <a:round/>
            </a:ln>
            <a:effectLst/>
          </c:spPr>
          <c:invertIfNegative val="0"/>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marker>
            <c:symbol val="circle"/>
            <c:size val="7"/>
            <c:spPr>
              <a:solidFill>
                <a:srgbClr val="8A9AB2"/>
              </a:solidFill>
              <a:ln w="9525" cap="flat">
                <a:solidFill>
                  <a:srgbClr val="8A9AB2"/>
                </a:solidFill>
                <a:prstDash val="solid"/>
                <a:round/>
              </a:ln>
              <a:effectLst/>
            </c:spPr>
          </c:marker>
          <c:cat>
            <c:multiLvlStrRef>
              <c:f>Sheet1!$A$2:$A$7</c:f>
              <c:multiLvlStrCache>
                <c:ptCount val="6"/>
                <c:lvl>
                  <c:pt idx="0">
                    <c:v>8</c:v>
                  </c:pt>
                  <c:pt idx="1">
                    <c:v>16</c:v>
                  </c:pt>
                  <c:pt idx="2">
                    <c:v>32</c:v>
                  </c:pt>
                  <c:pt idx="3">
                    <c:v>64</c:v>
                  </c:pt>
                  <c:pt idx="4">
                    <c:v>128</c:v>
                  </c:pt>
                  <c:pt idx="5">
                    <c:v>256</c:v>
                  </c:pt>
                </c:lvl>
              </c:multiLvlStrCache>
            </c:multiLvlStrRef>
          </c:cat>
          <c:val>
            <c:numRef>
              <c:f>Sheet1!$C$2:$C$7</c:f>
              <c:numCache>
                <c:formatCode>General</c:formatCode>
                <c:ptCount val="6"/>
                <c:pt idx="0">
                  <c:v>28.5</c:v>
                </c:pt>
                <c:pt idx="1">
                  <c:v>30.4</c:v>
                </c:pt>
                <c:pt idx="2">
                  <c:v>32.3</c:v>
                </c:pt>
                <c:pt idx="3">
                  <c:v>31</c:v>
                </c:pt>
                <c:pt idx="4">
                  <c:v>30.3</c:v>
                </c:pt>
                <c:pt idx="5">
                  <c:v>29.5</c:v>
                </c:pt>
              </c:numCache>
            </c:numRef>
          </c:val>
          <c:smooth val="0"/>
        </c:ser>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8A9AB2"/>
                </a:solidFill>
                <a:latin typeface="+mn-lt"/>
              </a:defRPr>
            </a:pPr>
            <a:endParaRPr lang="en-US"/>
          </a:p>
        </c:txPr>
        <c:crossAx val="2094734552"/>
        <c:crosses val="autoZero"/>
        <c:auto val="1"/>
        <c:lblAlgn val="ctr"/>
        <c:noMultiLvlLbl val="1"/>
      </c:catAx>
      <c:valAx>
        <c:axId val="2094734552"/>
        <c:scaling>
          <c:orientation val="minMax"/>
          <c:max val="50"/>
          <c:min val="20"/>
        </c:scaling>
        <c:delete val="0"/>
        <c:axPos val="l"/>
        <c:majorGridlines>
          <c:spPr>
            <a:ln w="9525" cap="flat">
              <a:solidFill>
                <a:srgbClr val="23324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8A9AB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8A9AB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9AB2"/>
                </a:solidFill>
                <a:latin typeface="+mn-lt"/>
              </a:defRPr>
            </a:pPr>
            <a:r>
              <a:rPr sz="1300" b="0" i="0" u="none" strike="noStrike">
                <a:solidFill>
                  <a:srgbClr val="8A9AB2"/>
                </a:solidFill>
                <a:latin typeface="+mn-lt"/>
              </a:rPr>
              <a:t>Searchable memory vs stream length</a:t>
            </a:r>
          </a:p>
        </c:rich>
      </c:tx>
      <c:layout/>
      <c:overlay val="0"/>
    </c:title>
    <c:autoTitleDeleted val="0"/>
    <c:plotArea>
      <c:layout/>
      <c:lineChart>
        <c:varyColors val="0"/>
        <c:ser>
          <c:idx val="0"/>
          <c:order val="0"/>
          <c:tx>
            <c:strRef>
              <c:f>Sheet1!$B$1</c:f>
              <c:strCache>
                <c:ptCount val="1"/>
                <c:pt idx="0">
                  <c:v>Dense RAG index</c:v>
                </c:pt>
              </c:strCache>
            </c:strRef>
          </c:tx>
          <c:spPr>
            <a:solidFill>
              <a:srgbClr val="60A5FA"/>
            </a:solidFill>
            <a:ln w="31750" cap="flat">
              <a:solidFill>
                <a:srgbClr val="60A5FA"/>
              </a:solidFill>
              <a:prstDash val="solid"/>
              <a:round/>
            </a:ln>
            <a:effectLst/>
          </c:spPr>
          <c:invertIfNegative val="0"/>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60A5FA"/>
              </a:solidFill>
              <a:ln w="9525" cap="flat">
                <a:solidFill>
                  <a:srgbClr val="60A5FA"/>
                </a:solidFill>
                <a:prstDash val="solid"/>
                <a:round/>
              </a:ln>
              <a:effectLst/>
            </c:spPr>
          </c:marker>
          <c:cat>
            <c:multiLvlStrRef>
              <c:f>Sheet1!$A$2:$A$11</c:f>
              <c:multiLvlStrCache>
                <c:ptCount val="10"/>
                <c:lvl>
                  <c:pt idx="0">
                    <c:v>0.8</c:v>
                  </c:pt>
                  <c:pt idx="1">
                    <c:v>1.7</c:v>
                  </c:pt>
                  <c:pt idx="2">
                    <c:v>2.5</c:v>
                  </c:pt>
                  <c:pt idx="3">
                    <c:v>3.4</c:v>
                  </c:pt>
                  <c:pt idx="4">
                    <c:v>4.2</c:v>
                  </c:pt>
                  <c:pt idx="5">
                    <c:v>5.1</c:v>
                  </c:pt>
                  <c:pt idx="6">
                    <c:v>5.9</c:v>
                  </c:pt>
                  <c:pt idx="7">
                    <c:v>6.8</c:v>
                  </c:pt>
                  <c:pt idx="8">
                    <c:v>7.6</c:v>
                  </c:pt>
                  <c:pt idx="9">
                    <c:v>8.5</c:v>
                  </c:pt>
                </c:lvl>
              </c:multiLvlStrCache>
            </c:multiLvlStrRef>
          </c:cat>
          <c:val>
            <c:numRef>
              <c:f>Sheet1!$B$2:$B$11</c:f>
              <c:numCache>
                <c:formatCode>General</c:formatCode>
                <c:ptCount val="10"/>
                <c:pt idx="0">
                  <c:v>14.6</c:v>
                </c:pt>
                <c:pt idx="1">
                  <c:v>29.2</c:v>
                </c:pt>
                <c:pt idx="2">
                  <c:v>43.8</c:v>
                </c:pt>
                <c:pt idx="3">
                  <c:v>58.4</c:v>
                </c:pt>
                <c:pt idx="4">
                  <c:v>73</c:v>
                </c:pt>
                <c:pt idx="5">
                  <c:v>87.6</c:v>
                </c:pt>
                <c:pt idx="6">
                  <c:v>102.1</c:v>
                </c:pt>
                <c:pt idx="7">
                  <c:v>116.7</c:v>
                </c:pt>
                <c:pt idx="8">
                  <c:v>131.3</c:v>
                </c:pt>
                <c:pt idx="9">
                  <c:v>145.9</c:v>
                </c:pt>
              </c:numCache>
            </c:numRef>
          </c:val>
          <c:smooth val="0"/>
        </c:ser>
        <c:ser>
          <c:idx val="1"/>
          <c:order val="1"/>
          <c:tx>
            <c:strRef>
              <c:f>Sheet1!$C$1</c:f>
              <c:strCache>
                <c:ptCount val="1"/>
                <c:pt idx="0">
                  <c:v>Raw text</c:v>
                </c:pt>
              </c:strCache>
            </c:strRef>
          </c:tx>
          <c:spPr>
            <a:solidFill>
              <a:srgbClr val="FBBF24"/>
            </a:solidFill>
            <a:ln w="31750" cap="flat">
              <a:solidFill>
                <a:srgbClr val="FBBF24"/>
              </a:solidFill>
              <a:prstDash val="solid"/>
              <a:round/>
            </a:ln>
            <a:effectLst/>
          </c:spPr>
          <c:invertIfNegative val="0"/>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FBBF24"/>
              </a:solidFill>
              <a:ln w="9525" cap="flat">
                <a:solidFill>
                  <a:srgbClr val="FBBF24"/>
                </a:solidFill>
                <a:prstDash val="solid"/>
                <a:round/>
              </a:ln>
              <a:effectLst/>
            </c:spPr>
          </c:marker>
          <c:cat>
            <c:multiLvlStrRef>
              <c:f>Sheet1!$A$2:$A$11</c:f>
              <c:multiLvlStrCache>
                <c:ptCount val="10"/>
                <c:lvl>
                  <c:pt idx="0">
                    <c:v>0.8</c:v>
                  </c:pt>
                  <c:pt idx="1">
                    <c:v>1.7</c:v>
                  </c:pt>
                  <c:pt idx="2">
                    <c:v>2.5</c:v>
                  </c:pt>
                  <c:pt idx="3">
                    <c:v>3.4</c:v>
                  </c:pt>
                  <c:pt idx="4">
                    <c:v>4.2</c:v>
                  </c:pt>
                  <c:pt idx="5">
                    <c:v>5.1</c:v>
                  </c:pt>
                  <c:pt idx="6">
                    <c:v>5.9</c:v>
                  </c:pt>
                  <c:pt idx="7">
                    <c:v>6.8</c:v>
                  </c:pt>
                  <c:pt idx="8">
                    <c:v>7.6</c:v>
                  </c:pt>
                  <c:pt idx="9">
                    <c:v>8.5</c:v>
                  </c:pt>
                </c:lvl>
              </c:multiLvlStrCache>
            </c:multiLvlStrRef>
          </c:cat>
          <c:val>
            <c:numRef>
              <c:f>Sheet1!$C$2:$C$11</c:f>
              <c:numCache>
                <c:formatCode>General</c:formatCode>
                <c:ptCount val="10"/>
                <c:pt idx="0">
                  <c:v>5.1</c:v>
                </c:pt>
                <c:pt idx="1">
                  <c:v>10.2</c:v>
                </c:pt>
                <c:pt idx="2">
                  <c:v>15.2</c:v>
                </c:pt>
                <c:pt idx="3">
                  <c:v>20.2</c:v>
                </c:pt>
                <c:pt idx="4">
                  <c:v>25.3</c:v>
                </c:pt>
                <c:pt idx="5">
                  <c:v>30.3</c:v>
                </c:pt>
                <c:pt idx="6">
                  <c:v>35.4</c:v>
                </c:pt>
                <c:pt idx="7">
                  <c:v>40.4</c:v>
                </c:pt>
                <c:pt idx="8">
                  <c:v>45.4</c:v>
                </c:pt>
                <c:pt idx="9">
                  <c:v>50.5</c:v>
                </c:pt>
              </c:numCache>
            </c:numRef>
          </c:val>
          <c:smooth val="0"/>
        </c:ser>
        <c:ser>
          <c:idx val="2"/>
          <c:order val="2"/>
          <c:tx>
            <c:strRef>
              <c:f>Sheet1!$D$1</c:f>
              <c:strCache>
                <c:ptCount val="1"/>
                <c:pt idx="0">
                  <c:v>SketchRAG, 256 cells</c:v>
                </c:pt>
              </c:strCache>
            </c:strRef>
          </c:tx>
          <c:spPr>
            <a:solidFill>
              <a:srgbClr val="A78BFA"/>
            </a:solidFill>
            <a:ln w="31750" cap="flat">
              <a:solidFill>
                <a:srgbClr val="A78BFA"/>
              </a:solidFill>
              <a:prstDash val="solid"/>
              <a:round/>
            </a:ln>
            <a:effectLst/>
          </c:spPr>
          <c:invertIfNegative val="0"/>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A78BFA"/>
              </a:solidFill>
              <a:ln w="9525" cap="flat">
                <a:solidFill>
                  <a:srgbClr val="A78BFA"/>
                </a:solidFill>
                <a:prstDash val="solid"/>
                <a:round/>
              </a:ln>
              <a:effectLst/>
            </c:spPr>
          </c:marker>
          <c:cat>
            <c:multiLvlStrRef>
              <c:f>Sheet1!$A$2:$A$11</c:f>
              <c:multiLvlStrCache>
                <c:ptCount val="10"/>
                <c:lvl>
                  <c:pt idx="0">
                    <c:v>0.8</c:v>
                  </c:pt>
                  <c:pt idx="1">
                    <c:v>1.7</c:v>
                  </c:pt>
                  <c:pt idx="2">
                    <c:v>2.5</c:v>
                  </c:pt>
                  <c:pt idx="3">
                    <c:v>3.4</c:v>
                  </c:pt>
                  <c:pt idx="4">
                    <c:v>4.2</c:v>
                  </c:pt>
                  <c:pt idx="5">
                    <c:v>5.1</c:v>
                  </c:pt>
                  <c:pt idx="6">
                    <c:v>5.9</c:v>
                  </c:pt>
                  <c:pt idx="7">
                    <c:v>6.8</c:v>
                  </c:pt>
                  <c:pt idx="8">
                    <c:v>7.6</c:v>
                  </c:pt>
                  <c:pt idx="9">
                    <c:v>8.5</c:v>
                  </c:pt>
                </c:lvl>
              </c:multiLvlStrCache>
            </c:multiLvlStrRef>
          </c:cat>
          <c:val>
            <c:numRef>
              <c:f>Sheet1!$D$2:$D$11</c:f>
              <c:numCache>
                <c:formatCode>General</c:formatCode>
                <c:ptCount val="10"/>
                <c:pt idx="0">
                  <c:v>3.6</c:v>
                </c:pt>
                <c:pt idx="1">
                  <c:v>3.66</c:v>
                </c:pt>
                <c:pt idx="2">
                  <c:v>3.68</c:v>
                </c:pt>
                <c:pt idx="3">
                  <c:v>3.69</c:v>
                </c:pt>
                <c:pt idx="4">
                  <c:v>3.7</c:v>
                </c:pt>
                <c:pt idx="5">
                  <c:v>3.7</c:v>
                </c:pt>
                <c:pt idx="6">
                  <c:v>3.7</c:v>
                </c:pt>
                <c:pt idx="7">
                  <c:v>3.7</c:v>
                </c:pt>
                <c:pt idx="8">
                  <c:v>3.71</c:v>
                </c:pt>
                <c:pt idx="9">
                  <c:v>3.71</c:v>
                </c:pt>
              </c:numCache>
            </c:numRef>
          </c:val>
          <c:smooth val="0"/>
        </c:ser>
        <c:ser>
          <c:idx val="3"/>
          <c:order val="3"/>
          <c:tx>
            <c:strRef>
              <c:f>Sheet1!$E$1</c:f>
              <c:strCache>
                <c:ptCount val="1"/>
                <c:pt idx="0">
                  <c:v>SketchRAG, 64 cells</c:v>
                </c:pt>
              </c:strCache>
            </c:strRef>
          </c:tx>
          <c:spPr>
            <a:solidFill>
              <a:srgbClr val="2DD4BF"/>
            </a:solidFill>
            <a:ln w="31750" cap="flat">
              <a:solidFill>
                <a:srgbClr val="2DD4BF"/>
              </a:solidFill>
              <a:prstDash val="solid"/>
              <a:round/>
            </a:ln>
            <a:effectLst/>
          </c:spPr>
          <c:invertIfNegative val="0"/>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2DD4BF"/>
              </a:solidFill>
              <a:ln w="9525" cap="flat">
                <a:solidFill>
                  <a:srgbClr val="2DD4BF"/>
                </a:solidFill>
                <a:prstDash val="solid"/>
                <a:round/>
              </a:ln>
              <a:effectLst/>
            </c:spPr>
          </c:marker>
          <c:cat>
            <c:multiLvlStrRef>
              <c:f>Sheet1!$A$2:$A$11</c:f>
              <c:multiLvlStrCache>
                <c:ptCount val="10"/>
                <c:lvl>
                  <c:pt idx="0">
                    <c:v>0.8</c:v>
                  </c:pt>
                  <c:pt idx="1">
                    <c:v>1.7</c:v>
                  </c:pt>
                  <c:pt idx="2">
                    <c:v>2.5</c:v>
                  </c:pt>
                  <c:pt idx="3">
                    <c:v>3.4</c:v>
                  </c:pt>
                  <c:pt idx="4">
                    <c:v>4.2</c:v>
                  </c:pt>
                  <c:pt idx="5">
                    <c:v>5.1</c:v>
                  </c:pt>
                  <c:pt idx="6">
                    <c:v>5.9</c:v>
                  </c:pt>
                  <c:pt idx="7">
                    <c:v>6.8</c:v>
                  </c:pt>
                  <c:pt idx="8">
                    <c:v>7.6</c:v>
                  </c:pt>
                  <c:pt idx="9">
                    <c:v>8.5</c:v>
                  </c:pt>
                </c:lvl>
              </c:multiLvlStrCache>
            </c:multiLvlStrRef>
          </c:cat>
          <c:val>
            <c:numRef>
              <c:f>Sheet1!$E$2:$E$11</c:f>
              <c:numCache>
                <c:formatCode>General</c:formatCode>
                <c:ptCount val="10"/>
                <c:pt idx="0">
                  <c:v>0.99</c:v>
                </c:pt>
                <c:pt idx="1">
                  <c:v>1</c:v>
                </c:pt>
                <c:pt idx="2">
                  <c:v>1</c:v>
                </c:pt>
                <c:pt idx="3">
                  <c:v>1.01</c:v>
                </c:pt>
                <c:pt idx="4">
                  <c:v>1.01</c:v>
                </c:pt>
                <c:pt idx="5">
                  <c:v>1.01</c:v>
                </c:pt>
                <c:pt idx="6">
                  <c:v>1.01</c:v>
                </c:pt>
                <c:pt idx="7">
                  <c:v>1.01</c:v>
                </c:pt>
                <c:pt idx="8">
                  <c:v>1.01</c:v>
                </c:pt>
                <c:pt idx="9">
                  <c:v>1.01</c:v>
                </c:pt>
              </c:numCache>
            </c:numRef>
          </c:val>
          <c:smooth val="0"/>
        </c:ser>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8A9AB2"/>
                    </a:solidFill>
                    <a:latin typeface="Arial"/>
                  </a:defRPr>
                </a:pPr>
                <a:r>
                  <a:rPr sz="1200" b="0" i="0" u="none" strike="noStrike">
                    <a:solidFill>
                      <a:srgbClr val="8A9AB2"/>
                    </a:solidFill>
                    <a:latin typeface="Arial"/>
                  </a:rPr>
                  <a:t>million words streamed</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8A9AB2"/>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233248"/>
              </a:solidFill>
              <a:prstDash val="solid"/>
              <a:round/>
            </a:ln>
          </c:spPr>
        </c:majorGridlines>
        <c:title>
          <c:tx>
            <c:rich>
              <a:bodyPr/>
              <a:lstStyle/>
              <a:p>
                <a:pPr>
                  <a:defRPr sz="1200" b="0" i="0" u="none" strike="noStrike">
                    <a:solidFill>
                      <a:srgbClr val="8A9AB2"/>
                    </a:solidFill>
                    <a:latin typeface="Arial"/>
                  </a:defRPr>
                </a:pPr>
                <a:r>
                  <a:rPr sz="1200" b="0" i="0" u="none" strike="noStrike">
                    <a:solidFill>
                      <a:srgbClr val="8A9AB2"/>
                    </a:solidFill>
                    <a:latin typeface="Arial"/>
                  </a:rPr>
                  <a:t>MB</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8A9AB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8A9AB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9AB2"/>
                </a:solidFill>
                <a:latin typeface="+mn-lt"/>
              </a:defRPr>
            </a:pPr>
            <a:r>
              <a:rPr sz="1300" b="0" i="0" u="none" strike="noStrike">
                <a:solidFill>
                  <a:srgbClr val="8A9AB2"/>
                </a:solidFill>
                <a:latin typeface="+mn-lt"/>
              </a:rPr>
              <a:t>Average over 6 LongBench tasks · Phi-3.5-mini for every system</a:t>
            </a:r>
          </a:p>
        </c:rich>
      </c:tx>
      <c:layout/>
      <c:overlay val="0"/>
    </c:title>
    <c:autoTitleDeleted val="0"/>
    <c:plotArea>
      <c:layout/>
      <c:barChart>
        <c:barDir val="bar"/>
        <c:grouping val="clustered"/>
        <c:varyColors val="0"/>
        <c:ser>
          <c:idx val="0"/>
          <c:order val="0"/>
          <c:tx>
            <c:strRef>
              <c:f>Sheet1!$B$1</c:f>
              <c:strCache>
                <c:ptCount val="1"/>
                <c:pt idx="0">
                  <c:v>Average</c:v>
                </c:pt>
              </c:strCache>
            </c:strRef>
          </c:tx>
          <c:spPr>
            <a:solidFill>
              <a:srgbClr val="3B4A63"/>
            </a:solidFill>
            <a:effectLst/>
          </c:spPr>
          <c:invertIfNegative val="0"/>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3B4A63"/>
              </a:solidFill>
              <a:effectLst/>
            </c:spPr>
          </c:dPt>
          <c:dPt>
            <c:idx val="1"/>
            <c:invertIfNegative val="0"/>
            <c:bubble3D val="0"/>
            <c:spPr>
              <a:solidFill>
                <a:srgbClr val="3B4A63"/>
              </a:solidFill>
              <a:effectLst/>
            </c:spPr>
          </c:dPt>
          <c:dPt>
            <c:idx val="2"/>
            <c:invertIfNegative val="0"/>
            <c:bubble3D val="0"/>
            <c:spPr>
              <a:solidFill>
                <a:srgbClr val="2DD4BF"/>
              </a:solidFill>
              <a:effectLst/>
            </c:spPr>
          </c:dPt>
          <c:dPt>
            <c:idx val="3"/>
            <c:invertIfNegative val="0"/>
            <c:bubble3D val="0"/>
            <c:spPr>
              <a:solidFill>
                <a:srgbClr val="3B4A63"/>
              </a:solidFill>
              <a:effectLst/>
            </c:spPr>
          </c:dPt>
          <c:dPt>
            <c:idx val="4"/>
            <c:invertIfNegative val="0"/>
            <c:bubble3D val="0"/>
            <c:spPr>
              <a:solidFill>
                <a:srgbClr val="F27FBA"/>
              </a:solidFill>
              <a:effectLst/>
            </c:spPr>
          </c:dPt>
          <c:dPt>
            <c:idx val="5"/>
            <c:invertIfNegative val="0"/>
            <c:bubble3D val="0"/>
            <c:spPr>
              <a:solidFill>
                <a:srgbClr val="3B4A63"/>
              </a:solidFill>
              <a:effectLst/>
            </c:spPr>
          </c:dPt>
          <c:cat>
            <c:multiLvlStrRef>
              <c:f>Sheet1!$A$2:$A$7</c:f>
              <c:multiLvlStrCache>
                <c:ptCount val="6"/>
                <c:lvl>
                  <c:pt idx="0">
                    <c:v>Full context</c:v>
                  </c:pt>
                  <c:pt idx="1">
                    <c:v>SketchRAG always raw</c:v>
                  </c:pt>
                  <c:pt idx="2">
                    <c:v>SketchRAG + gate</c:v>
                  </c:pt>
                  <c:pt idx="3">
                    <c:v>BM25 RAG</c:v>
                  </c:pt>
                  <c:pt idx="4">
                    <c:v>EM-LLM (official)</c:v>
                  </c:pt>
                  <c:pt idx="5">
                    <c:v>Dense RAG</c:v>
                  </c:pt>
                </c:lvl>
              </c:multiLvlStrCache>
            </c:multiLvlStrRef>
          </c:cat>
          <c:val>
            <c:numRef>
              <c:f>Sheet1!$B$2:$B$7</c:f>
              <c:numCache>
                <c:formatCode>General</c:formatCode>
                <c:ptCount val="6"/>
                <c:pt idx="0">
                  <c:v>37.7</c:v>
                </c:pt>
                <c:pt idx="1">
                  <c:v>36.2</c:v>
                </c:pt>
                <c:pt idx="2">
                  <c:v>34.8</c:v>
                </c:pt>
                <c:pt idx="3">
                  <c:v>34.6</c:v>
                </c:pt>
                <c:pt idx="4">
                  <c:v>34.5</c:v>
                </c:pt>
                <c:pt idx="5">
                  <c:v>34</c:v>
                </c:pt>
              </c:numCache>
            </c:numRef>
          </c:val>
        </c:ser>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8A9AB2"/>
                </a:solidFill>
                <a:latin typeface="+mn-lt"/>
              </a:defRPr>
            </a:pPr>
            <a:endParaRPr lang="en-US"/>
          </a:p>
        </c:txPr>
        <c:crossAx val="2094734552"/>
        <c:crosses val="autoZero"/>
        <c:auto val="1"/>
        <c:lblAlgn val="ctr"/>
        <c:noMultiLvlLbl val="1"/>
      </c:catAx>
      <c:valAx>
        <c:axId val="2094734552"/>
        <c:scaling>
          <c:orientation val="minMax"/>
          <c:max val="45"/>
          <c:min val="0"/>
        </c:scaling>
        <c:delete val="1"/>
        <c:axPos val="b"/>
        <c:majorGridlines>
          <c:spPr>
            <a:ln w="9525" cap="flat">
              <a:solidFill>
                <a:srgbClr val="23324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8A9AB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SketchRAG is our streaming-data project. The question: an agent reads a stream that never ends. Can it keep a small, fixed-size summary of everything it has read, use that summary to answer questions, and know when the summary is not good enough and it must go back to the original text? The grid on the right is the idea in one picture: a fixed number of memory cells, a few of them picked by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costs of not summarising. Full context sends 14,232 tokens per question and takes 61.5 seconds of LLM time, and it still scores only 16.7 on PassKey because the document has to be cut in the middle to fit the window. A dense vector index does not have that problem, but its size grows with every chunk: 146 MB after 8.5 million words in our stress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A hot memory that is bounded no matter how long the stream gets. A cold store that keeps every raw chunk but is never searched. And the error-bound gate, which is the part we contribute: it uses the Count-Min Sketch guarantee to decide, per memory cell and per question, whether the summary is safe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flow. Each chunk updates the hot memory in one pass and is written to cold storage. A question is embedded and compared with the cells; we keep the top four plus the cell that is next to the best one in time. The gate then checks each selected cell. Trusted cells contribute their digest; escalated cells are replaced by their two most relevant raw chunks from cold storage. The LLM is called once with that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one cell stores. The centroid and up to eight exemplar embeddings are used to find cells. The Count-Min Sketch counts every word in the cell in a fixed 3 by 512 table; this is what the gate checks. The digest is up to 120 words of the best sentences. Pointers lead back to the raw chunks. A chunk joins a cell if its cosine similarity is at least 0.9, otherwise it opens a new cell; when the budget is exceeded, the two closest cells are merged. About 14 KB per cell, which is why memory stays at about 1 MB for 64 cells however long the stream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is deterministic, no LLM involved. It looks at the rare terms in the question, by streaming IDF. For each retrieved cell: if the sketch says a rare term occurs in the cell but the digest does not contain it, the digest lost the fact. If no cell has the rare terms above the guaranteed error bound epsilon times N, the sketch cannot locate them at all, so the top cells are read raw. Very loose cells are always escalated. On key-value retrieval this takes the score from 6.7 to 96.7.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350 test questions over 12 tasks. Every system uses the same 7B model, the same prompt and greedy decoding, so differences come only from the context each system builds. We compare against full context, BM25 and dense retrieval, our simplified versions of SARA and AMBER, and several SketchRAG variants. Tuning used a separate dev split; the test split was frozen before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quality. SketchRAG with the gate scores 41.7, ahead of full context, dense RAG, SARA-lite and AMBER-lite. We report honestly that plain BM25 retrieval is the best system at 46, mostly because several tasks reward exact string matching. The digest alone scores 29.9; the gate is worth almost 12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The gated system sends 1,213 tokens per question, the fewest of any system and 8.5 percent of full context, and needs 5.8 seconds of LLM time against 61.5. It makes one LLM call per question; AMBER-lite, which lets the LLM manage memory, makes about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The gate fires on 190 of 350 questions. On those, reading raw evidence lifts the score from 30 to 51.5. On the 160 questions it trusts, always reading raw would add less than one point. So it recovers 94 percent of the always-raw gain with 22 percent fewer tokens. When we let the LLM decide instead, through tool calls, it fetched raw text on only 30 questions and scored 30.1: the useful signal is the sketch's error bound, not the model's self-assessment.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Ablations on 110 questions. Capping each cell's raw pointers at a 16-item reservoir drops the score from 42.4 to 28.9: the chunk with the answer is often no longer reachable. Removing the temporal neighbour costs about 1.7 points; the rest is within run-to-run noise of about 1 point. On the right, shrinking memory from 256 to 8 cells: the digest-only score falls, but the gate compensates by escalating more often, so the gated score stays between 40.3 and 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stress test streams all English LongBench documents, 8,488,204 words, through the system. Hot memory stays at about 1.0 MB with 64 cells, while a dense index grows to about 146 MB. But we have to be honest about recall: at this scale SketchRAG finds the evidence for 0.23 of probe questions against 0.44 for dense retrieval. Every probe escalates, so it behaves like a two-level router over cold storage. This is the main limitation we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reproduced EM-LLM, an episodic-memory method, from its official repository, at reduced scale on Kaggle's two T4 GPUs. With the same base model and the same 120 questions, SketchRAG with the gate scores 34.8 and EM-LLM 34.5. The caveats: EM-LLM ran in fp16 while our Phi-3.5 is a quantised build, so it is the same questions but not an identical model, and only six tasks finished within the hardware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python demo/agent/server.py, then open localhost:8600. Show the Live stream page filling, the Memory explorer grid, then ask the Teobaldo question in the Query playground and click Compare to show the digest-only answer. Note: the demo answers with a 3B model on this laptop, not the 7B model used for the benchmark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stated plainly. BM25 remains the strongest system. Multi-hop QA suffers because the evidence is spread across more chunks than four cells hold. At stream scale, recall drops well below dense retrieval. And two of our baselines are simplified re-implementations, while EM-LLM ran at reduced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memory is bounded, context is cheap, and the gate is calibrated because it comes from the sketch's error bound. The obvious next steps target the stream-scale recall problem and multi-hop questions. Thank you; happy to take questions or show the demo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148840"/>
            <a:ext cx="676656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685800" y="3429000"/>
            <a:ext cx="6583680" cy="10058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bg2"/>
                </a:solidFill>
              </a:rPr>
              <a:t>SketchRAG  ·  IIIT Kottayam</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2148840"/>
            <a:ext cx="6766560" cy="1188720"/>
          </a:xfrm>
          <a:prstGeom prst="rect">
            <a:avLst/>
          </a:prstGeom>
          <a:noFill/>
          <a:ln/>
        </p:spPr>
        <p:txBody>
          <a:bodyPr wrap="square" lIns="0" tIns="0" rIns="0" bIns="0" rtlCol="0" anchor="b"/>
          <a:lstStyle/>
          <a:p>
            <a:pPr algn="l" indent="0" marL="0">
              <a:buNone/>
            </a:pPr>
            <a:r>
              <a:rPr lang="en-US" sz="6000" b="1" dirty="0">
                <a:solidFill>
                  <a:schemeClr val="bg1"/>
                </a:solidFill>
              </a:rPr>
              <a:t>SketchRAG</a:t>
            </a:r>
            <a:endParaRPr lang="en-US" sz="6000" dirty="0"/>
          </a:p>
        </p:txBody>
      </p:sp>
      <p:sp>
        <p:nvSpPr>
          <p:cNvPr id="3" name="Text 0"/>
          <p:cNvSpPr/>
          <p:nvPr>
            <p:ph idx="101" type="body" hasCustomPrompt="1"/>
          </p:nvPr>
        </p:nvSpPr>
        <p:spPr>
          <a:xfrm>
            <a:off x="685800" y="3429000"/>
            <a:ext cx="6583680" cy="1005840"/>
          </a:xfrm>
          <a:prstGeom prst="rect">
            <a:avLst/>
          </a:prstGeom>
          <a:noFill/>
          <a:ln/>
        </p:spPr>
        <p:txBody>
          <a:bodyPr wrap="square" lIns="0" tIns="0" rIns="0" bIns="0" rtlCol="0" anchor="t"/>
          <a:lstStyle/>
          <a:p>
            <a:pPr algn="l" indent="0" marL="0">
              <a:buNone/>
            </a:pPr>
            <a:r>
              <a:rPr lang="en-US" sz="2200" dirty="0">
                <a:solidFill>
                  <a:schemeClr val="bg2"/>
                </a:solidFill>
              </a:rPr>
              <a:t>Approximate streaming summaries as retrieval memory for agentic LLMs</a:t>
            </a:r>
            <a:endParaRPr lang="en-US" sz="2200" dirty="0"/>
          </a:p>
        </p:txBody>
      </p:sp>
      <p:sp>
        <p:nvSpPr>
          <p:cNvPr id="4" name="Text 2"/>
          <p:cNvSpPr txBox="1"/>
          <p:nvPr/>
        </p:nvSpPr>
        <p:spPr>
          <a:xfrm>
            <a:off x="685800" y="4892040"/>
            <a:ext cx="7315200" cy="320040"/>
          </a:xfrm>
          <a:prstGeom prst="rect">
            <a:avLst/>
          </a:prstGeom>
          <a:noFill/>
          <a:ln/>
        </p:spPr>
        <p:txBody>
          <a:bodyPr wrap="square" lIns="0" tIns="0" rIns="0" bIns="0" rtlCol="0" anchor="ctr"/>
          <a:lstStyle/>
          <a:p>
            <a:pPr indent="0" marL="0">
              <a:buNone/>
            </a:pPr>
            <a:r>
              <a:rPr lang="en-US" sz="1400" dirty="0">
                <a:solidFill>
                  <a:schemeClr val="bg1"/>
                </a:solidFill>
              </a:rPr>
              <a:t>Ranjith Kumar (2023BCD0030)  ·  Bhuvan S M (2023BCS0198)  ·  Nooh K (2023BCD0003)  ·  Hariprashanth M (2023BCS0036)</a:t>
            </a:r>
            <a:endParaRPr lang="en-US" sz="1400" dirty="0"/>
          </a:p>
        </p:txBody>
      </p:sp>
      <p:sp>
        <p:nvSpPr>
          <p:cNvPr id="5" name="Text 3"/>
          <p:cNvSpPr txBox="1"/>
          <p:nvPr/>
        </p:nvSpPr>
        <p:spPr>
          <a:xfrm>
            <a:off x="685800" y="5257800"/>
            <a:ext cx="7315200" cy="274320"/>
          </a:xfrm>
          <a:prstGeom prst="rect">
            <a:avLst/>
          </a:prstGeom>
          <a:noFill/>
          <a:ln/>
        </p:spPr>
        <p:txBody>
          <a:bodyPr wrap="square" lIns="0" tIns="0" rIns="0" bIns="0" rtlCol="0" anchor="ctr"/>
          <a:lstStyle/>
          <a:p>
            <a:pPr indent="0" marL="0">
              <a:buNone/>
            </a:pPr>
            <a:r>
              <a:rPr lang="en-US" sz="1400" dirty="0">
                <a:solidFill>
                  <a:schemeClr val="bg2"/>
                </a:solidFill>
              </a:rPr>
              <a:t>Indian Institute of Information Technology Kottayam</a:t>
            </a:r>
            <a:endParaRPr lang="en-US" sz="1400" dirty="0"/>
          </a:p>
        </p:txBody>
      </p:sp>
      <p:sp>
        <p:nvSpPr>
          <p:cNvPr id="6" name="cell tile 0"/>
          <p:cNvSpPr/>
          <p:nvPr/>
        </p:nvSpPr>
        <p:spPr>
          <a:xfrm>
            <a:off x="8092440" y="1325880"/>
            <a:ext cx="384048" cy="384048"/>
          </a:xfrm>
          <a:prstGeom prst="roundRect">
            <a:avLst>
              <a:gd name="adj" fmla="val 16667"/>
            </a:avLst>
          </a:prstGeom>
          <a:solidFill>
            <a:schemeClr val="accent1">
              <a:alpha val="28000"/>
            </a:schemeClr>
          </a:solidFill>
          <a:ln/>
        </p:spPr>
      </p:sp>
      <p:sp>
        <p:nvSpPr>
          <p:cNvPr id="7" name="cell tile 1"/>
          <p:cNvSpPr/>
          <p:nvPr/>
        </p:nvSpPr>
        <p:spPr>
          <a:xfrm>
            <a:off x="8586216" y="1325880"/>
            <a:ext cx="384048" cy="384048"/>
          </a:xfrm>
          <a:prstGeom prst="roundRect">
            <a:avLst>
              <a:gd name="adj" fmla="val 16667"/>
            </a:avLst>
          </a:prstGeom>
          <a:solidFill>
            <a:schemeClr val="accent4">
              <a:alpha val="28000"/>
            </a:schemeClr>
          </a:solidFill>
          <a:ln/>
        </p:spPr>
      </p:sp>
      <p:sp>
        <p:nvSpPr>
          <p:cNvPr id="8" name="cell tile 2"/>
          <p:cNvSpPr/>
          <p:nvPr/>
        </p:nvSpPr>
        <p:spPr>
          <a:xfrm>
            <a:off x="9079992" y="1325880"/>
            <a:ext cx="384048" cy="384048"/>
          </a:xfrm>
          <a:prstGeom prst="roundRect">
            <a:avLst>
              <a:gd name="adj" fmla="val 16667"/>
            </a:avLst>
          </a:prstGeom>
          <a:solidFill>
            <a:schemeClr val="accent3">
              <a:alpha val="28000"/>
            </a:schemeClr>
          </a:solidFill>
          <a:ln/>
        </p:spPr>
      </p:sp>
      <p:sp>
        <p:nvSpPr>
          <p:cNvPr id="9" name="cell tile 3"/>
          <p:cNvSpPr/>
          <p:nvPr/>
        </p:nvSpPr>
        <p:spPr>
          <a:xfrm>
            <a:off x="9573768" y="1325880"/>
            <a:ext cx="384048" cy="384048"/>
          </a:xfrm>
          <a:prstGeom prst="roundRect">
            <a:avLst>
              <a:gd name="adj" fmla="val 16667"/>
            </a:avLst>
          </a:prstGeom>
          <a:solidFill>
            <a:schemeClr val="accent1">
              <a:alpha val="28000"/>
            </a:schemeClr>
          </a:solidFill>
          <a:ln/>
        </p:spPr>
      </p:sp>
      <p:sp>
        <p:nvSpPr>
          <p:cNvPr id="10" name="cell tile 4"/>
          <p:cNvSpPr/>
          <p:nvPr/>
        </p:nvSpPr>
        <p:spPr>
          <a:xfrm>
            <a:off x="10067544" y="1325880"/>
            <a:ext cx="384048" cy="384048"/>
          </a:xfrm>
          <a:prstGeom prst="roundRect">
            <a:avLst>
              <a:gd name="adj" fmla="val 16667"/>
            </a:avLst>
          </a:prstGeom>
          <a:solidFill>
            <a:schemeClr val="accent2">
              <a:alpha val="28000"/>
            </a:schemeClr>
          </a:solidFill>
          <a:ln/>
        </p:spPr>
      </p:sp>
      <p:sp>
        <p:nvSpPr>
          <p:cNvPr id="11" name="cell tile 5"/>
          <p:cNvSpPr/>
          <p:nvPr/>
        </p:nvSpPr>
        <p:spPr>
          <a:xfrm>
            <a:off x="10561320" y="1325880"/>
            <a:ext cx="384048" cy="384048"/>
          </a:xfrm>
          <a:prstGeom prst="roundRect">
            <a:avLst>
              <a:gd name="adj" fmla="val 16667"/>
            </a:avLst>
          </a:prstGeom>
          <a:solidFill>
            <a:schemeClr val="accent1">
              <a:alpha val="28000"/>
            </a:schemeClr>
          </a:solidFill>
          <a:ln/>
        </p:spPr>
      </p:sp>
      <p:sp>
        <p:nvSpPr>
          <p:cNvPr id="12" name="cell tile 6"/>
          <p:cNvSpPr/>
          <p:nvPr/>
        </p:nvSpPr>
        <p:spPr>
          <a:xfrm>
            <a:off x="11055096" y="1325880"/>
            <a:ext cx="384048" cy="384048"/>
          </a:xfrm>
          <a:prstGeom prst="roundRect">
            <a:avLst>
              <a:gd name="adj" fmla="val 16667"/>
            </a:avLst>
          </a:prstGeom>
          <a:solidFill>
            <a:schemeClr val="accent3">
              <a:alpha val="28000"/>
            </a:schemeClr>
          </a:solidFill>
          <a:ln/>
        </p:spPr>
      </p:sp>
      <p:sp>
        <p:nvSpPr>
          <p:cNvPr id="13" name="cell tile 7"/>
          <p:cNvSpPr/>
          <p:nvPr/>
        </p:nvSpPr>
        <p:spPr>
          <a:xfrm>
            <a:off x="11548872" y="1325880"/>
            <a:ext cx="384048" cy="384048"/>
          </a:xfrm>
          <a:prstGeom prst="roundRect">
            <a:avLst>
              <a:gd name="adj" fmla="val 16667"/>
            </a:avLst>
          </a:prstGeom>
          <a:solidFill>
            <a:schemeClr val="accent2">
              <a:alpha val="28000"/>
            </a:schemeClr>
          </a:solidFill>
          <a:ln/>
        </p:spPr>
      </p:sp>
      <p:sp>
        <p:nvSpPr>
          <p:cNvPr id="14" name="cell tile 8"/>
          <p:cNvSpPr/>
          <p:nvPr/>
        </p:nvSpPr>
        <p:spPr>
          <a:xfrm>
            <a:off x="8092440" y="1819656"/>
            <a:ext cx="384048" cy="384048"/>
          </a:xfrm>
          <a:prstGeom prst="roundRect">
            <a:avLst>
              <a:gd name="adj" fmla="val 16667"/>
            </a:avLst>
          </a:prstGeom>
          <a:solidFill>
            <a:schemeClr val="accent2">
              <a:alpha val="28000"/>
            </a:schemeClr>
          </a:solidFill>
          <a:ln/>
        </p:spPr>
      </p:sp>
      <p:sp>
        <p:nvSpPr>
          <p:cNvPr id="15" name="cell tile 9"/>
          <p:cNvSpPr/>
          <p:nvPr/>
        </p:nvSpPr>
        <p:spPr>
          <a:xfrm>
            <a:off x="8586216" y="1819656"/>
            <a:ext cx="384048" cy="384048"/>
          </a:xfrm>
          <a:prstGeom prst="roundRect">
            <a:avLst>
              <a:gd name="adj" fmla="val 16667"/>
            </a:avLst>
          </a:prstGeom>
          <a:solidFill>
            <a:schemeClr val="accent1">
              <a:alpha val="28000"/>
            </a:schemeClr>
          </a:solidFill>
          <a:ln/>
        </p:spPr>
      </p:sp>
      <p:sp>
        <p:nvSpPr>
          <p:cNvPr id="16" name="cell tile 10"/>
          <p:cNvSpPr/>
          <p:nvPr/>
        </p:nvSpPr>
        <p:spPr>
          <a:xfrm>
            <a:off x="9079992" y="1819656"/>
            <a:ext cx="384048" cy="384048"/>
          </a:xfrm>
          <a:prstGeom prst="roundRect">
            <a:avLst>
              <a:gd name="adj" fmla="val 16667"/>
            </a:avLst>
          </a:prstGeom>
          <a:solidFill>
            <a:schemeClr val="accent1"/>
          </a:solidFill>
          <a:ln/>
        </p:spPr>
      </p:sp>
      <p:sp>
        <p:nvSpPr>
          <p:cNvPr id="17" name="cell tile 11"/>
          <p:cNvSpPr/>
          <p:nvPr/>
        </p:nvSpPr>
        <p:spPr>
          <a:xfrm>
            <a:off x="9573768" y="1819656"/>
            <a:ext cx="384048" cy="384048"/>
          </a:xfrm>
          <a:prstGeom prst="roundRect">
            <a:avLst>
              <a:gd name="adj" fmla="val 16667"/>
            </a:avLst>
          </a:prstGeom>
          <a:solidFill>
            <a:schemeClr val="accent3">
              <a:alpha val="28000"/>
            </a:schemeClr>
          </a:solidFill>
          <a:ln/>
        </p:spPr>
      </p:sp>
      <p:sp>
        <p:nvSpPr>
          <p:cNvPr id="18" name="cell tile 12"/>
          <p:cNvSpPr/>
          <p:nvPr/>
        </p:nvSpPr>
        <p:spPr>
          <a:xfrm>
            <a:off x="10067544" y="1819656"/>
            <a:ext cx="384048" cy="384048"/>
          </a:xfrm>
          <a:prstGeom prst="roundRect">
            <a:avLst>
              <a:gd name="adj" fmla="val 16667"/>
            </a:avLst>
          </a:prstGeom>
          <a:solidFill>
            <a:schemeClr val="accent1">
              <a:alpha val="28000"/>
            </a:schemeClr>
          </a:solidFill>
          <a:ln/>
        </p:spPr>
      </p:sp>
      <p:sp>
        <p:nvSpPr>
          <p:cNvPr id="19" name="cell tile 13"/>
          <p:cNvSpPr/>
          <p:nvPr/>
        </p:nvSpPr>
        <p:spPr>
          <a:xfrm>
            <a:off x="10561320" y="1819656"/>
            <a:ext cx="384048" cy="384048"/>
          </a:xfrm>
          <a:prstGeom prst="roundRect">
            <a:avLst>
              <a:gd name="adj" fmla="val 16667"/>
            </a:avLst>
          </a:prstGeom>
          <a:solidFill>
            <a:schemeClr val="accent2">
              <a:alpha val="28000"/>
            </a:schemeClr>
          </a:solidFill>
          <a:ln/>
        </p:spPr>
      </p:sp>
      <p:sp>
        <p:nvSpPr>
          <p:cNvPr id="20" name="cell tile 14"/>
          <p:cNvSpPr/>
          <p:nvPr/>
        </p:nvSpPr>
        <p:spPr>
          <a:xfrm>
            <a:off x="11055096" y="1819656"/>
            <a:ext cx="384048" cy="384048"/>
          </a:xfrm>
          <a:prstGeom prst="roundRect">
            <a:avLst>
              <a:gd name="adj" fmla="val 16667"/>
            </a:avLst>
          </a:prstGeom>
          <a:solidFill>
            <a:schemeClr val="accent1">
              <a:alpha val="28000"/>
            </a:schemeClr>
          </a:solidFill>
          <a:ln/>
        </p:spPr>
      </p:sp>
      <p:sp>
        <p:nvSpPr>
          <p:cNvPr id="21" name="cell tile 15"/>
          <p:cNvSpPr/>
          <p:nvPr/>
        </p:nvSpPr>
        <p:spPr>
          <a:xfrm>
            <a:off x="11548872" y="1819656"/>
            <a:ext cx="384048" cy="384048"/>
          </a:xfrm>
          <a:prstGeom prst="roundRect">
            <a:avLst>
              <a:gd name="adj" fmla="val 16667"/>
            </a:avLst>
          </a:prstGeom>
          <a:solidFill>
            <a:schemeClr val="accent3">
              <a:alpha val="28000"/>
            </a:schemeClr>
          </a:solidFill>
          <a:ln/>
        </p:spPr>
      </p:sp>
      <p:sp>
        <p:nvSpPr>
          <p:cNvPr id="22" name="cell tile 16"/>
          <p:cNvSpPr/>
          <p:nvPr/>
        </p:nvSpPr>
        <p:spPr>
          <a:xfrm>
            <a:off x="8092440" y="2313432"/>
            <a:ext cx="384048" cy="384048"/>
          </a:xfrm>
          <a:prstGeom prst="roundRect">
            <a:avLst>
              <a:gd name="adj" fmla="val 16667"/>
            </a:avLst>
          </a:prstGeom>
          <a:solidFill>
            <a:schemeClr val="accent3">
              <a:alpha val="28000"/>
            </a:schemeClr>
          </a:solidFill>
          <a:ln/>
        </p:spPr>
      </p:sp>
      <p:sp>
        <p:nvSpPr>
          <p:cNvPr id="23" name="cell tile 17"/>
          <p:cNvSpPr/>
          <p:nvPr/>
        </p:nvSpPr>
        <p:spPr>
          <a:xfrm>
            <a:off x="8586216" y="2313432"/>
            <a:ext cx="384048" cy="384048"/>
          </a:xfrm>
          <a:prstGeom prst="roundRect">
            <a:avLst>
              <a:gd name="adj" fmla="val 16667"/>
            </a:avLst>
          </a:prstGeom>
          <a:solidFill>
            <a:schemeClr val="accent2">
              <a:alpha val="28000"/>
            </a:schemeClr>
          </a:solidFill>
          <a:ln/>
        </p:spPr>
      </p:sp>
      <p:sp>
        <p:nvSpPr>
          <p:cNvPr id="24" name="cell tile 18"/>
          <p:cNvSpPr/>
          <p:nvPr/>
        </p:nvSpPr>
        <p:spPr>
          <a:xfrm>
            <a:off x="9079992" y="2313432"/>
            <a:ext cx="384048" cy="384048"/>
          </a:xfrm>
          <a:prstGeom prst="roundRect">
            <a:avLst>
              <a:gd name="adj" fmla="val 16667"/>
            </a:avLst>
          </a:prstGeom>
          <a:solidFill>
            <a:schemeClr val="accent1">
              <a:alpha val="28000"/>
            </a:schemeClr>
          </a:solidFill>
          <a:ln/>
        </p:spPr>
      </p:sp>
      <p:sp>
        <p:nvSpPr>
          <p:cNvPr id="25" name="cell tile 19"/>
          <p:cNvSpPr/>
          <p:nvPr/>
        </p:nvSpPr>
        <p:spPr>
          <a:xfrm>
            <a:off x="9573768" y="2313432"/>
            <a:ext cx="384048" cy="384048"/>
          </a:xfrm>
          <a:prstGeom prst="roundRect">
            <a:avLst>
              <a:gd name="adj" fmla="val 16667"/>
            </a:avLst>
          </a:prstGeom>
          <a:solidFill>
            <a:schemeClr val="accent4"/>
          </a:solidFill>
          <a:ln/>
        </p:spPr>
      </p:sp>
      <p:sp>
        <p:nvSpPr>
          <p:cNvPr id="26" name="cell tile 20"/>
          <p:cNvSpPr/>
          <p:nvPr/>
        </p:nvSpPr>
        <p:spPr>
          <a:xfrm>
            <a:off x="10067544" y="2313432"/>
            <a:ext cx="384048" cy="384048"/>
          </a:xfrm>
          <a:prstGeom prst="roundRect">
            <a:avLst>
              <a:gd name="adj" fmla="val 16667"/>
            </a:avLst>
          </a:prstGeom>
          <a:solidFill>
            <a:schemeClr val="accent3">
              <a:alpha val="28000"/>
            </a:schemeClr>
          </a:solidFill>
          <a:ln/>
        </p:spPr>
      </p:sp>
      <p:sp>
        <p:nvSpPr>
          <p:cNvPr id="27" name="cell tile 21"/>
          <p:cNvSpPr/>
          <p:nvPr/>
        </p:nvSpPr>
        <p:spPr>
          <a:xfrm>
            <a:off x="10561320" y="2313432"/>
            <a:ext cx="384048" cy="384048"/>
          </a:xfrm>
          <a:prstGeom prst="roundRect">
            <a:avLst>
              <a:gd name="adj" fmla="val 16667"/>
            </a:avLst>
          </a:prstGeom>
          <a:solidFill>
            <a:schemeClr val="accent1">
              <a:alpha val="28000"/>
            </a:schemeClr>
          </a:solidFill>
          <a:ln/>
        </p:spPr>
      </p:sp>
      <p:sp>
        <p:nvSpPr>
          <p:cNvPr id="28" name="cell tile 22"/>
          <p:cNvSpPr/>
          <p:nvPr/>
        </p:nvSpPr>
        <p:spPr>
          <a:xfrm>
            <a:off x="11055096" y="2313432"/>
            <a:ext cx="384048" cy="384048"/>
          </a:xfrm>
          <a:prstGeom prst="roundRect">
            <a:avLst>
              <a:gd name="adj" fmla="val 16667"/>
            </a:avLst>
          </a:prstGeom>
          <a:solidFill>
            <a:schemeClr val="accent2">
              <a:alpha val="28000"/>
            </a:schemeClr>
          </a:solidFill>
          <a:ln/>
        </p:spPr>
      </p:sp>
      <p:sp>
        <p:nvSpPr>
          <p:cNvPr id="29" name="cell tile 23"/>
          <p:cNvSpPr/>
          <p:nvPr/>
        </p:nvSpPr>
        <p:spPr>
          <a:xfrm>
            <a:off x="11548872" y="2313432"/>
            <a:ext cx="384048" cy="384048"/>
          </a:xfrm>
          <a:prstGeom prst="roundRect">
            <a:avLst>
              <a:gd name="adj" fmla="val 16667"/>
            </a:avLst>
          </a:prstGeom>
          <a:solidFill>
            <a:schemeClr val="accent1">
              <a:alpha val="28000"/>
            </a:schemeClr>
          </a:solidFill>
          <a:ln/>
        </p:spPr>
      </p:sp>
      <p:sp>
        <p:nvSpPr>
          <p:cNvPr id="30" name="cell tile 24"/>
          <p:cNvSpPr/>
          <p:nvPr/>
        </p:nvSpPr>
        <p:spPr>
          <a:xfrm>
            <a:off x="8092440" y="2807208"/>
            <a:ext cx="384048" cy="384048"/>
          </a:xfrm>
          <a:prstGeom prst="roundRect">
            <a:avLst>
              <a:gd name="adj" fmla="val 16667"/>
            </a:avLst>
          </a:prstGeom>
          <a:solidFill>
            <a:schemeClr val="accent1">
              <a:alpha val="28000"/>
            </a:schemeClr>
          </a:solidFill>
          <a:ln/>
        </p:spPr>
      </p:sp>
      <p:sp>
        <p:nvSpPr>
          <p:cNvPr id="31" name="cell tile 25"/>
          <p:cNvSpPr/>
          <p:nvPr/>
        </p:nvSpPr>
        <p:spPr>
          <a:xfrm>
            <a:off x="8586216" y="2807208"/>
            <a:ext cx="384048" cy="384048"/>
          </a:xfrm>
          <a:prstGeom prst="roundRect">
            <a:avLst>
              <a:gd name="adj" fmla="val 16667"/>
            </a:avLst>
          </a:prstGeom>
          <a:solidFill>
            <a:schemeClr val="accent3">
              <a:alpha val="28000"/>
            </a:schemeClr>
          </a:solidFill>
          <a:ln/>
        </p:spPr>
      </p:sp>
      <p:sp>
        <p:nvSpPr>
          <p:cNvPr id="32" name="cell tile 26"/>
          <p:cNvSpPr/>
          <p:nvPr/>
        </p:nvSpPr>
        <p:spPr>
          <a:xfrm>
            <a:off x="9079992" y="2807208"/>
            <a:ext cx="384048" cy="384048"/>
          </a:xfrm>
          <a:prstGeom prst="roundRect">
            <a:avLst>
              <a:gd name="adj" fmla="val 16667"/>
            </a:avLst>
          </a:prstGeom>
          <a:solidFill>
            <a:schemeClr val="accent2">
              <a:alpha val="28000"/>
            </a:schemeClr>
          </a:solidFill>
          <a:ln/>
        </p:spPr>
      </p:sp>
      <p:sp>
        <p:nvSpPr>
          <p:cNvPr id="33" name="cell tile 27"/>
          <p:cNvSpPr/>
          <p:nvPr/>
        </p:nvSpPr>
        <p:spPr>
          <a:xfrm>
            <a:off x="9573768" y="2807208"/>
            <a:ext cx="384048" cy="384048"/>
          </a:xfrm>
          <a:prstGeom prst="roundRect">
            <a:avLst>
              <a:gd name="adj" fmla="val 16667"/>
            </a:avLst>
          </a:prstGeom>
          <a:solidFill>
            <a:schemeClr val="accent1"/>
          </a:solidFill>
          <a:ln/>
        </p:spPr>
      </p:sp>
      <p:sp>
        <p:nvSpPr>
          <p:cNvPr id="34" name="cell tile 28"/>
          <p:cNvSpPr/>
          <p:nvPr/>
        </p:nvSpPr>
        <p:spPr>
          <a:xfrm>
            <a:off x="10067544" y="2807208"/>
            <a:ext cx="384048" cy="384048"/>
          </a:xfrm>
          <a:prstGeom prst="roundRect">
            <a:avLst>
              <a:gd name="adj" fmla="val 16667"/>
            </a:avLst>
          </a:prstGeom>
          <a:solidFill>
            <a:schemeClr val="accent4">
              <a:alpha val="28000"/>
            </a:schemeClr>
          </a:solidFill>
          <a:ln/>
        </p:spPr>
      </p:sp>
      <p:sp>
        <p:nvSpPr>
          <p:cNvPr id="35" name="cell tile 29"/>
          <p:cNvSpPr/>
          <p:nvPr/>
        </p:nvSpPr>
        <p:spPr>
          <a:xfrm>
            <a:off x="10561320" y="2807208"/>
            <a:ext cx="384048" cy="384048"/>
          </a:xfrm>
          <a:prstGeom prst="roundRect">
            <a:avLst>
              <a:gd name="adj" fmla="val 16667"/>
            </a:avLst>
          </a:prstGeom>
          <a:solidFill>
            <a:schemeClr val="accent3">
              <a:alpha val="28000"/>
            </a:schemeClr>
          </a:solidFill>
          <a:ln/>
        </p:spPr>
      </p:sp>
      <p:sp>
        <p:nvSpPr>
          <p:cNvPr id="36" name="cell tile 30"/>
          <p:cNvSpPr/>
          <p:nvPr/>
        </p:nvSpPr>
        <p:spPr>
          <a:xfrm>
            <a:off x="11055096" y="2807208"/>
            <a:ext cx="384048" cy="384048"/>
          </a:xfrm>
          <a:prstGeom prst="roundRect">
            <a:avLst>
              <a:gd name="adj" fmla="val 16667"/>
            </a:avLst>
          </a:prstGeom>
          <a:solidFill>
            <a:schemeClr val="accent1">
              <a:alpha val="28000"/>
            </a:schemeClr>
          </a:solidFill>
          <a:ln/>
        </p:spPr>
      </p:sp>
      <p:sp>
        <p:nvSpPr>
          <p:cNvPr id="37" name="cell tile 31"/>
          <p:cNvSpPr/>
          <p:nvPr/>
        </p:nvSpPr>
        <p:spPr>
          <a:xfrm>
            <a:off x="11548872" y="2807208"/>
            <a:ext cx="384048" cy="384048"/>
          </a:xfrm>
          <a:prstGeom prst="roundRect">
            <a:avLst>
              <a:gd name="adj" fmla="val 16667"/>
            </a:avLst>
          </a:prstGeom>
          <a:solidFill>
            <a:schemeClr val="accent2">
              <a:alpha val="28000"/>
            </a:schemeClr>
          </a:solidFill>
          <a:ln/>
        </p:spPr>
      </p:sp>
      <p:sp>
        <p:nvSpPr>
          <p:cNvPr id="38" name="cell tile 32"/>
          <p:cNvSpPr/>
          <p:nvPr/>
        </p:nvSpPr>
        <p:spPr>
          <a:xfrm>
            <a:off x="8092440" y="3300984"/>
            <a:ext cx="384048" cy="384048"/>
          </a:xfrm>
          <a:prstGeom prst="roundRect">
            <a:avLst>
              <a:gd name="adj" fmla="val 16667"/>
            </a:avLst>
          </a:prstGeom>
          <a:solidFill>
            <a:schemeClr val="accent2">
              <a:alpha val="28000"/>
            </a:schemeClr>
          </a:solidFill>
          <a:ln/>
        </p:spPr>
      </p:sp>
      <p:sp>
        <p:nvSpPr>
          <p:cNvPr id="39" name="cell tile 33"/>
          <p:cNvSpPr/>
          <p:nvPr/>
        </p:nvSpPr>
        <p:spPr>
          <a:xfrm>
            <a:off x="8586216" y="3300984"/>
            <a:ext cx="384048" cy="384048"/>
          </a:xfrm>
          <a:prstGeom prst="roundRect">
            <a:avLst>
              <a:gd name="adj" fmla="val 16667"/>
            </a:avLst>
          </a:prstGeom>
          <a:solidFill>
            <a:schemeClr val="accent1">
              <a:alpha val="28000"/>
            </a:schemeClr>
          </a:solidFill>
          <a:ln/>
        </p:spPr>
      </p:sp>
      <p:sp>
        <p:nvSpPr>
          <p:cNvPr id="40" name="cell tile 34"/>
          <p:cNvSpPr/>
          <p:nvPr/>
        </p:nvSpPr>
        <p:spPr>
          <a:xfrm>
            <a:off x="9079992" y="3300984"/>
            <a:ext cx="384048" cy="384048"/>
          </a:xfrm>
          <a:prstGeom prst="roundRect">
            <a:avLst>
              <a:gd name="adj" fmla="val 16667"/>
            </a:avLst>
          </a:prstGeom>
          <a:solidFill>
            <a:schemeClr val="accent3">
              <a:alpha val="28000"/>
            </a:schemeClr>
          </a:solidFill>
          <a:ln/>
        </p:spPr>
      </p:sp>
      <p:sp>
        <p:nvSpPr>
          <p:cNvPr id="41" name="cell tile 35"/>
          <p:cNvSpPr/>
          <p:nvPr/>
        </p:nvSpPr>
        <p:spPr>
          <a:xfrm>
            <a:off x="9573768" y="3300984"/>
            <a:ext cx="384048" cy="384048"/>
          </a:xfrm>
          <a:prstGeom prst="roundRect">
            <a:avLst>
              <a:gd name="adj" fmla="val 16667"/>
            </a:avLst>
          </a:prstGeom>
          <a:solidFill>
            <a:schemeClr val="accent2">
              <a:alpha val="28000"/>
            </a:schemeClr>
          </a:solidFill>
          <a:ln/>
        </p:spPr>
      </p:sp>
      <p:sp>
        <p:nvSpPr>
          <p:cNvPr id="42" name="cell tile 36"/>
          <p:cNvSpPr/>
          <p:nvPr/>
        </p:nvSpPr>
        <p:spPr>
          <a:xfrm>
            <a:off x="10067544" y="3300984"/>
            <a:ext cx="384048" cy="384048"/>
          </a:xfrm>
          <a:prstGeom prst="roundRect">
            <a:avLst>
              <a:gd name="adj" fmla="val 16667"/>
            </a:avLst>
          </a:prstGeom>
          <a:solidFill>
            <a:schemeClr val="accent1">
              <a:alpha val="28000"/>
            </a:schemeClr>
          </a:solidFill>
          <a:ln/>
        </p:spPr>
      </p:sp>
      <p:sp>
        <p:nvSpPr>
          <p:cNvPr id="43" name="cell tile 37"/>
          <p:cNvSpPr/>
          <p:nvPr/>
        </p:nvSpPr>
        <p:spPr>
          <a:xfrm>
            <a:off x="10561320" y="3300984"/>
            <a:ext cx="384048" cy="384048"/>
          </a:xfrm>
          <a:prstGeom prst="roundRect">
            <a:avLst>
              <a:gd name="adj" fmla="val 16667"/>
            </a:avLst>
          </a:prstGeom>
          <a:solidFill>
            <a:schemeClr val="accent4">
              <a:alpha val="28000"/>
            </a:schemeClr>
          </a:solidFill>
          <a:ln/>
        </p:spPr>
      </p:sp>
      <p:sp>
        <p:nvSpPr>
          <p:cNvPr id="44" name="cell tile 38"/>
          <p:cNvSpPr/>
          <p:nvPr/>
        </p:nvSpPr>
        <p:spPr>
          <a:xfrm>
            <a:off x="11055096" y="3300984"/>
            <a:ext cx="384048" cy="384048"/>
          </a:xfrm>
          <a:prstGeom prst="roundRect">
            <a:avLst>
              <a:gd name="adj" fmla="val 16667"/>
            </a:avLst>
          </a:prstGeom>
          <a:solidFill>
            <a:schemeClr val="accent3">
              <a:alpha val="28000"/>
            </a:schemeClr>
          </a:solidFill>
          <a:ln/>
        </p:spPr>
      </p:sp>
      <p:sp>
        <p:nvSpPr>
          <p:cNvPr id="45" name="cell tile 39"/>
          <p:cNvSpPr/>
          <p:nvPr/>
        </p:nvSpPr>
        <p:spPr>
          <a:xfrm>
            <a:off x="11548872" y="3300984"/>
            <a:ext cx="384048" cy="384048"/>
          </a:xfrm>
          <a:prstGeom prst="roundRect">
            <a:avLst>
              <a:gd name="adj" fmla="val 16667"/>
            </a:avLst>
          </a:prstGeom>
          <a:solidFill>
            <a:schemeClr val="accent1">
              <a:alpha val="28000"/>
            </a:schemeClr>
          </a:solidFill>
          <a:ln/>
        </p:spPr>
      </p:sp>
      <p:sp>
        <p:nvSpPr>
          <p:cNvPr id="46" name="cell tile 40"/>
          <p:cNvSpPr/>
          <p:nvPr/>
        </p:nvSpPr>
        <p:spPr>
          <a:xfrm>
            <a:off x="8092440" y="3794760"/>
            <a:ext cx="384048" cy="384048"/>
          </a:xfrm>
          <a:prstGeom prst="roundRect">
            <a:avLst>
              <a:gd name="adj" fmla="val 16667"/>
            </a:avLst>
          </a:prstGeom>
          <a:solidFill>
            <a:schemeClr val="accent1">
              <a:alpha val="28000"/>
            </a:schemeClr>
          </a:solidFill>
          <a:ln/>
        </p:spPr>
      </p:sp>
      <p:sp>
        <p:nvSpPr>
          <p:cNvPr id="47" name="cell tile 41"/>
          <p:cNvSpPr/>
          <p:nvPr/>
        </p:nvSpPr>
        <p:spPr>
          <a:xfrm>
            <a:off x="8586216" y="3794760"/>
            <a:ext cx="384048" cy="384048"/>
          </a:xfrm>
          <a:prstGeom prst="roundRect">
            <a:avLst>
              <a:gd name="adj" fmla="val 16667"/>
            </a:avLst>
          </a:prstGeom>
          <a:solidFill>
            <a:schemeClr val="accent2">
              <a:alpha val="28000"/>
            </a:schemeClr>
          </a:solidFill>
          <a:ln/>
        </p:spPr>
      </p:sp>
      <p:sp>
        <p:nvSpPr>
          <p:cNvPr id="48" name="cell tile 42"/>
          <p:cNvSpPr/>
          <p:nvPr/>
        </p:nvSpPr>
        <p:spPr>
          <a:xfrm>
            <a:off x="9079992" y="3794760"/>
            <a:ext cx="384048" cy="384048"/>
          </a:xfrm>
          <a:prstGeom prst="roundRect">
            <a:avLst>
              <a:gd name="adj" fmla="val 16667"/>
            </a:avLst>
          </a:prstGeom>
          <a:solidFill>
            <a:schemeClr val="accent1">
              <a:alpha val="28000"/>
            </a:schemeClr>
          </a:solidFill>
          <a:ln/>
        </p:spPr>
      </p:sp>
      <p:sp>
        <p:nvSpPr>
          <p:cNvPr id="49" name="cell tile 43"/>
          <p:cNvSpPr/>
          <p:nvPr/>
        </p:nvSpPr>
        <p:spPr>
          <a:xfrm>
            <a:off x="9573768" y="3794760"/>
            <a:ext cx="384048" cy="384048"/>
          </a:xfrm>
          <a:prstGeom prst="roundRect">
            <a:avLst>
              <a:gd name="adj" fmla="val 16667"/>
            </a:avLst>
          </a:prstGeom>
          <a:solidFill>
            <a:schemeClr val="accent3">
              <a:alpha val="28000"/>
            </a:schemeClr>
          </a:solidFill>
          <a:ln/>
        </p:spPr>
      </p:sp>
      <p:sp>
        <p:nvSpPr>
          <p:cNvPr id="50" name="cell tile 44"/>
          <p:cNvSpPr/>
          <p:nvPr/>
        </p:nvSpPr>
        <p:spPr>
          <a:xfrm>
            <a:off x="10067544" y="3794760"/>
            <a:ext cx="384048" cy="384048"/>
          </a:xfrm>
          <a:prstGeom prst="roundRect">
            <a:avLst>
              <a:gd name="adj" fmla="val 16667"/>
            </a:avLst>
          </a:prstGeom>
          <a:solidFill>
            <a:schemeClr val="accent4"/>
          </a:solidFill>
          <a:ln/>
        </p:spPr>
      </p:sp>
      <p:sp>
        <p:nvSpPr>
          <p:cNvPr id="51" name="cell tile 45"/>
          <p:cNvSpPr/>
          <p:nvPr/>
        </p:nvSpPr>
        <p:spPr>
          <a:xfrm>
            <a:off x="10561320" y="3794760"/>
            <a:ext cx="384048" cy="384048"/>
          </a:xfrm>
          <a:prstGeom prst="roundRect">
            <a:avLst>
              <a:gd name="adj" fmla="val 16667"/>
            </a:avLst>
          </a:prstGeom>
          <a:solidFill>
            <a:schemeClr val="accent1">
              <a:alpha val="28000"/>
            </a:schemeClr>
          </a:solidFill>
          <a:ln/>
        </p:spPr>
      </p:sp>
      <p:sp>
        <p:nvSpPr>
          <p:cNvPr id="52" name="cell tile 46"/>
          <p:cNvSpPr/>
          <p:nvPr/>
        </p:nvSpPr>
        <p:spPr>
          <a:xfrm>
            <a:off x="11055096" y="3794760"/>
            <a:ext cx="384048" cy="384048"/>
          </a:xfrm>
          <a:prstGeom prst="roundRect">
            <a:avLst>
              <a:gd name="adj" fmla="val 16667"/>
            </a:avLst>
          </a:prstGeom>
          <a:solidFill>
            <a:schemeClr val="accent4">
              <a:alpha val="28000"/>
            </a:schemeClr>
          </a:solidFill>
          <a:ln/>
        </p:spPr>
      </p:sp>
      <p:sp>
        <p:nvSpPr>
          <p:cNvPr id="53" name="cell tile 47"/>
          <p:cNvSpPr/>
          <p:nvPr/>
        </p:nvSpPr>
        <p:spPr>
          <a:xfrm>
            <a:off x="11548872" y="3794760"/>
            <a:ext cx="384048" cy="384048"/>
          </a:xfrm>
          <a:prstGeom prst="roundRect">
            <a:avLst>
              <a:gd name="adj" fmla="val 16667"/>
            </a:avLst>
          </a:prstGeom>
          <a:solidFill>
            <a:schemeClr val="accent3">
              <a:alpha val="28000"/>
            </a:schemeClr>
          </a:solidFill>
          <a:ln/>
        </p:spPr>
      </p:sp>
      <p:sp>
        <p:nvSpPr>
          <p:cNvPr id="54" name="cell tile 48"/>
          <p:cNvSpPr/>
          <p:nvPr/>
        </p:nvSpPr>
        <p:spPr>
          <a:xfrm>
            <a:off x="8092440" y="4288536"/>
            <a:ext cx="384048" cy="384048"/>
          </a:xfrm>
          <a:prstGeom prst="roundRect">
            <a:avLst>
              <a:gd name="adj" fmla="val 16667"/>
            </a:avLst>
          </a:prstGeom>
          <a:solidFill>
            <a:schemeClr val="accent3">
              <a:alpha val="28000"/>
            </a:schemeClr>
          </a:solidFill>
          <a:ln/>
        </p:spPr>
      </p:sp>
      <p:sp>
        <p:nvSpPr>
          <p:cNvPr id="55" name="cell tile 49"/>
          <p:cNvSpPr/>
          <p:nvPr/>
        </p:nvSpPr>
        <p:spPr>
          <a:xfrm>
            <a:off x="8586216" y="4288536"/>
            <a:ext cx="384048" cy="384048"/>
          </a:xfrm>
          <a:prstGeom prst="roundRect">
            <a:avLst>
              <a:gd name="adj" fmla="val 16667"/>
            </a:avLst>
          </a:prstGeom>
          <a:solidFill>
            <a:schemeClr val="accent1">
              <a:alpha val="28000"/>
            </a:schemeClr>
          </a:solidFill>
          <a:ln/>
        </p:spPr>
      </p:sp>
      <p:sp>
        <p:nvSpPr>
          <p:cNvPr id="56" name="cell tile 50"/>
          <p:cNvSpPr/>
          <p:nvPr/>
        </p:nvSpPr>
        <p:spPr>
          <a:xfrm>
            <a:off x="9079992" y="4288536"/>
            <a:ext cx="384048" cy="384048"/>
          </a:xfrm>
          <a:prstGeom prst="roundRect">
            <a:avLst>
              <a:gd name="adj" fmla="val 16667"/>
            </a:avLst>
          </a:prstGeom>
          <a:solidFill>
            <a:schemeClr val="accent2">
              <a:alpha val="28000"/>
            </a:schemeClr>
          </a:solidFill>
          <a:ln/>
        </p:spPr>
      </p:sp>
      <p:sp>
        <p:nvSpPr>
          <p:cNvPr id="57" name="cell tile 51"/>
          <p:cNvSpPr/>
          <p:nvPr/>
        </p:nvSpPr>
        <p:spPr>
          <a:xfrm>
            <a:off x="9573768" y="4288536"/>
            <a:ext cx="384048" cy="384048"/>
          </a:xfrm>
          <a:prstGeom prst="roundRect">
            <a:avLst>
              <a:gd name="adj" fmla="val 16667"/>
            </a:avLst>
          </a:prstGeom>
          <a:solidFill>
            <a:schemeClr val="accent1">
              <a:alpha val="28000"/>
            </a:schemeClr>
          </a:solidFill>
          <a:ln/>
        </p:spPr>
      </p:sp>
      <p:sp>
        <p:nvSpPr>
          <p:cNvPr id="58" name="cell tile 52"/>
          <p:cNvSpPr/>
          <p:nvPr/>
        </p:nvSpPr>
        <p:spPr>
          <a:xfrm>
            <a:off x="10067544" y="4288536"/>
            <a:ext cx="384048" cy="384048"/>
          </a:xfrm>
          <a:prstGeom prst="roundRect">
            <a:avLst>
              <a:gd name="adj" fmla="val 16667"/>
            </a:avLst>
          </a:prstGeom>
          <a:solidFill>
            <a:schemeClr val="accent1"/>
          </a:solidFill>
          <a:ln/>
        </p:spPr>
      </p:sp>
      <p:sp>
        <p:nvSpPr>
          <p:cNvPr id="59" name="cell tile 53"/>
          <p:cNvSpPr/>
          <p:nvPr/>
        </p:nvSpPr>
        <p:spPr>
          <a:xfrm>
            <a:off x="10561320" y="4288536"/>
            <a:ext cx="384048" cy="384048"/>
          </a:xfrm>
          <a:prstGeom prst="roundRect">
            <a:avLst>
              <a:gd name="adj" fmla="val 16667"/>
            </a:avLst>
          </a:prstGeom>
          <a:solidFill>
            <a:schemeClr val="accent2">
              <a:alpha val="28000"/>
            </a:schemeClr>
          </a:solidFill>
          <a:ln/>
        </p:spPr>
      </p:sp>
      <p:sp>
        <p:nvSpPr>
          <p:cNvPr id="60" name="cell tile 54"/>
          <p:cNvSpPr/>
          <p:nvPr/>
        </p:nvSpPr>
        <p:spPr>
          <a:xfrm>
            <a:off x="11055096" y="4288536"/>
            <a:ext cx="384048" cy="384048"/>
          </a:xfrm>
          <a:prstGeom prst="roundRect">
            <a:avLst>
              <a:gd name="adj" fmla="val 16667"/>
            </a:avLst>
          </a:prstGeom>
          <a:solidFill>
            <a:schemeClr val="accent1">
              <a:alpha val="28000"/>
            </a:schemeClr>
          </a:solidFill>
          <a:ln/>
        </p:spPr>
      </p:sp>
      <p:sp>
        <p:nvSpPr>
          <p:cNvPr id="61" name="cell tile 55"/>
          <p:cNvSpPr/>
          <p:nvPr/>
        </p:nvSpPr>
        <p:spPr>
          <a:xfrm>
            <a:off x="11548872" y="4288536"/>
            <a:ext cx="384048" cy="384048"/>
          </a:xfrm>
          <a:prstGeom prst="roundRect">
            <a:avLst>
              <a:gd name="adj" fmla="val 16667"/>
            </a:avLst>
          </a:prstGeom>
          <a:solidFill>
            <a:schemeClr val="accent4">
              <a:alpha val="28000"/>
            </a:schemeClr>
          </a:solidFill>
          <a:ln/>
        </p:spPr>
      </p:sp>
      <p:sp>
        <p:nvSpPr>
          <p:cNvPr id="62" name="cell tile 56"/>
          <p:cNvSpPr/>
          <p:nvPr/>
        </p:nvSpPr>
        <p:spPr>
          <a:xfrm>
            <a:off x="8092440" y="4782312"/>
            <a:ext cx="384048" cy="384048"/>
          </a:xfrm>
          <a:prstGeom prst="roundRect">
            <a:avLst>
              <a:gd name="adj" fmla="val 16667"/>
            </a:avLst>
          </a:prstGeom>
          <a:solidFill>
            <a:schemeClr val="accent4">
              <a:alpha val="28000"/>
            </a:schemeClr>
          </a:solidFill>
          <a:ln/>
        </p:spPr>
      </p:sp>
      <p:sp>
        <p:nvSpPr>
          <p:cNvPr id="63" name="cell tile 57"/>
          <p:cNvSpPr/>
          <p:nvPr/>
        </p:nvSpPr>
        <p:spPr>
          <a:xfrm>
            <a:off x="8586216" y="4782312"/>
            <a:ext cx="384048" cy="384048"/>
          </a:xfrm>
          <a:prstGeom prst="roundRect">
            <a:avLst>
              <a:gd name="adj" fmla="val 16667"/>
            </a:avLst>
          </a:prstGeom>
          <a:solidFill>
            <a:schemeClr val="accent3">
              <a:alpha val="28000"/>
            </a:schemeClr>
          </a:solidFill>
          <a:ln/>
        </p:spPr>
      </p:sp>
      <p:sp>
        <p:nvSpPr>
          <p:cNvPr id="64" name="cell tile 58"/>
          <p:cNvSpPr/>
          <p:nvPr/>
        </p:nvSpPr>
        <p:spPr>
          <a:xfrm>
            <a:off x="9079992" y="4782312"/>
            <a:ext cx="384048" cy="384048"/>
          </a:xfrm>
          <a:prstGeom prst="roundRect">
            <a:avLst>
              <a:gd name="adj" fmla="val 16667"/>
            </a:avLst>
          </a:prstGeom>
          <a:solidFill>
            <a:schemeClr val="accent1">
              <a:alpha val="28000"/>
            </a:schemeClr>
          </a:solidFill>
          <a:ln/>
        </p:spPr>
      </p:sp>
      <p:sp>
        <p:nvSpPr>
          <p:cNvPr id="65" name="cell tile 59"/>
          <p:cNvSpPr/>
          <p:nvPr/>
        </p:nvSpPr>
        <p:spPr>
          <a:xfrm>
            <a:off x="9573768" y="4782312"/>
            <a:ext cx="384048" cy="384048"/>
          </a:xfrm>
          <a:prstGeom prst="roundRect">
            <a:avLst>
              <a:gd name="adj" fmla="val 16667"/>
            </a:avLst>
          </a:prstGeom>
          <a:solidFill>
            <a:schemeClr val="accent2">
              <a:alpha val="28000"/>
            </a:schemeClr>
          </a:solidFill>
          <a:ln/>
        </p:spPr>
      </p:sp>
      <p:sp>
        <p:nvSpPr>
          <p:cNvPr id="66" name="cell tile 60"/>
          <p:cNvSpPr/>
          <p:nvPr/>
        </p:nvSpPr>
        <p:spPr>
          <a:xfrm>
            <a:off x="10067544" y="4782312"/>
            <a:ext cx="384048" cy="384048"/>
          </a:xfrm>
          <a:prstGeom prst="roundRect">
            <a:avLst>
              <a:gd name="adj" fmla="val 16667"/>
            </a:avLst>
          </a:prstGeom>
          <a:solidFill>
            <a:schemeClr val="accent1">
              <a:alpha val="28000"/>
            </a:schemeClr>
          </a:solidFill>
          <a:ln/>
        </p:spPr>
      </p:sp>
      <p:sp>
        <p:nvSpPr>
          <p:cNvPr id="67" name="cell tile 61"/>
          <p:cNvSpPr/>
          <p:nvPr/>
        </p:nvSpPr>
        <p:spPr>
          <a:xfrm>
            <a:off x="10561320" y="4782312"/>
            <a:ext cx="384048" cy="384048"/>
          </a:xfrm>
          <a:prstGeom prst="roundRect">
            <a:avLst>
              <a:gd name="adj" fmla="val 16667"/>
            </a:avLst>
          </a:prstGeom>
          <a:solidFill>
            <a:schemeClr val="accent3">
              <a:alpha val="28000"/>
            </a:schemeClr>
          </a:solidFill>
          <a:ln/>
        </p:spPr>
      </p:sp>
      <p:sp>
        <p:nvSpPr>
          <p:cNvPr id="68" name="cell tile 62"/>
          <p:cNvSpPr/>
          <p:nvPr/>
        </p:nvSpPr>
        <p:spPr>
          <a:xfrm>
            <a:off x="11055096" y="4782312"/>
            <a:ext cx="384048" cy="384048"/>
          </a:xfrm>
          <a:prstGeom prst="roundRect">
            <a:avLst>
              <a:gd name="adj" fmla="val 16667"/>
            </a:avLst>
          </a:prstGeom>
          <a:solidFill>
            <a:schemeClr val="accent2">
              <a:alpha val="28000"/>
            </a:schemeClr>
          </a:solidFill>
          <a:ln/>
        </p:spPr>
      </p:sp>
      <p:sp>
        <p:nvSpPr>
          <p:cNvPr id="69" name="cell tile 63"/>
          <p:cNvSpPr/>
          <p:nvPr/>
        </p:nvSpPr>
        <p:spPr>
          <a:xfrm>
            <a:off x="11548872" y="4782312"/>
            <a:ext cx="384048" cy="384048"/>
          </a:xfrm>
          <a:prstGeom prst="roundRect">
            <a:avLst>
              <a:gd name="adj" fmla="val 16667"/>
            </a:avLst>
          </a:prstGeom>
          <a:solidFill>
            <a:schemeClr val="accent1">
              <a:alpha val="28000"/>
            </a:schemeClr>
          </a:solidFill>
          <a:ln/>
        </p:spPr>
      </p:sp>
      <p:sp>
        <p:nvSpPr>
          <p:cNvPr id="70" name="Text 68"/>
          <p:cNvSpPr txBox="1"/>
          <p:nvPr/>
        </p:nvSpPr>
        <p:spPr>
          <a:xfrm>
            <a:off x="8092440" y="5349240"/>
            <a:ext cx="3931920" cy="274320"/>
          </a:xfrm>
          <a:prstGeom prst="rect">
            <a:avLst/>
          </a:prstGeom>
          <a:noFill/>
          <a:ln/>
        </p:spPr>
        <p:txBody>
          <a:bodyPr wrap="square" lIns="0" tIns="0" rIns="0" bIns="0" rtlCol="0" anchor="ctr"/>
          <a:lstStyle/>
          <a:p>
            <a:pPr indent="0" marL="0">
              <a:buNone/>
            </a:pPr>
            <a:r>
              <a:rPr lang="en-US" sz="1100" dirty="0">
                <a:solidFill>
                  <a:schemeClr val="bg2"/>
                </a:solidFill>
              </a:rPr>
              <a:t>64 memory cells: the agent's whole searchable memory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Agents reading a stream cannot keep re-reading all of it</a:t>
            </a:r>
            <a:endParaRPr lang="en-US" sz="3400" dirty="0"/>
          </a:p>
        </p:txBody>
      </p:sp>
      <p:sp>
        <p:nvSpPr>
          <p:cNvPr id="4" name="problem card 1"/>
          <p:cNvSpPr/>
          <p:nvPr/>
        </p:nvSpPr>
        <p:spPr>
          <a:xfrm>
            <a:off x="548640" y="1783080"/>
            <a:ext cx="3474720" cy="3566160"/>
          </a:xfrm>
          <a:prstGeom prst="roundRect">
            <a:avLst>
              <a:gd name="adj" fmla="val 3158"/>
            </a:avLst>
          </a:prstGeom>
          <a:solidFill>
            <a:schemeClr val="tx2"/>
          </a:solidFill>
          <a:ln w="9525">
            <a:solidFill>
              <a:schemeClr val="accent6"/>
            </a:solidFill>
            <a:prstDash val="solid"/>
          </a:ln>
        </p:spPr>
      </p:sp>
      <p:sp>
        <p:nvSpPr>
          <p:cNvPr id="5" name="problem 1 circle"/>
          <p:cNvSpPr/>
          <p:nvPr/>
        </p:nvSpPr>
        <p:spPr>
          <a:xfrm>
            <a:off x="868680" y="2103120"/>
            <a:ext cx="685800" cy="685800"/>
          </a:xfrm>
          <a:prstGeom prst="ellipse">
            <a:avLst/>
          </a:prstGeom>
          <a:solidFill>
            <a:schemeClr val="accent4">
              <a:alpha val="18000"/>
            </a:schemeClr>
          </a:solidFill>
          <a:ln/>
        </p:spPr>
      </p:sp>
      <p:pic>
        <p:nvPicPr>
          <p:cNvPr id="6" name="problem 1 icon" descr="preencoded.png">    </p:cNvPr>
          <p:cNvPicPr>
            <a:picLocks noChangeAspect="1"/>
          </p:cNvPicPr>
          <p:nvPr/>
        </p:nvPicPr>
        <p:blipFill>
          <a:blip r:embed="rId1"/>
          <a:stretch>
            <a:fillRect/>
          </a:stretch>
        </p:blipFill>
        <p:spPr>
          <a:xfrm>
            <a:off x="1040130" y="2274570"/>
            <a:ext cx="342900" cy="342900"/>
          </a:xfrm>
          <a:prstGeom prst="rect">
            <a:avLst/>
          </a:prstGeom>
        </p:spPr>
      </p:pic>
      <p:sp>
        <p:nvSpPr>
          <p:cNvPr id="7" name="Text 4"/>
          <p:cNvSpPr txBox="1"/>
          <p:nvPr/>
        </p:nvSpPr>
        <p:spPr>
          <a:xfrm>
            <a:off x="868680" y="2971800"/>
            <a:ext cx="2926080" cy="822960"/>
          </a:xfrm>
          <a:prstGeom prst="rect">
            <a:avLst/>
          </a:prstGeom>
          <a:noFill/>
          <a:ln/>
        </p:spPr>
        <p:txBody>
          <a:bodyPr wrap="square" lIns="0" tIns="0" rIns="0" bIns="0" rtlCol="0" anchor="ctr"/>
          <a:lstStyle/>
          <a:p>
            <a:pPr indent="0" marL="0">
              <a:buNone/>
            </a:pPr>
            <a:r>
              <a:rPr lang="en-US" sz="4800" b="1" dirty="0">
                <a:solidFill>
                  <a:schemeClr val="accent4"/>
                </a:solidFill>
              </a:rPr>
              <a:t>14,232</a:t>
            </a:r>
            <a:endParaRPr lang="en-US" sz="4800" dirty="0"/>
          </a:p>
        </p:txBody>
      </p:sp>
      <p:sp>
        <p:nvSpPr>
          <p:cNvPr id="8" name="Text 5"/>
          <p:cNvSpPr txBox="1"/>
          <p:nvPr/>
        </p:nvSpPr>
        <p:spPr>
          <a:xfrm>
            <a:off x="868680" y="3840480"/>
            <a:ext cx="2926080" cy="365760"/>
          </a:xfrm>
          <a:prstGeom prst="rect">
            <a:avLst/>
          </a:prstGeom>
          <a:noFill/>
          <a:ln/>
        </p:spPr>
        <p:txBody>
          <a:bodyPr wrap="square" lIns="0" tIns="0" rIns="0" bIns="0" rtlCol="0" anchor="ctr"/>
          <a:lstStyle/>
          <a:p>
            <a:pPr indent="0" marL="0">
              <a:buNone/>
            </a:pPr>
            <a:r>
              <a:rPr lang="en-US" sz="1800" b="1" dirty="0">
                <a:solidFill>
                  <a:schemeClr val="bg1"/>
                </a:solidFill>
              </a:rPr>
              <a:t>LLM tokens per question</a:t>
            </a:r>
            <a:endParaRPr lang="en-US" sz="1800" dirty="0"/>
          </a:p>
        </p:txBody>
      </p:sp>
      <p:sp>
        <p:nvSpPr>
          <p:cNvPr id="9" name="Text 6"/>
          <p:cNvSpPr txBox="1"/>
          <p:nvPr/>
        </p:nvSpPr>
        <p:spPr>
          <a:xfrm>
            <a:off x="868680" y="4251960"/>
            <a:ext cx="2880360" cy="868680"/>
          </a:xfrm>
          <a:prstGeom prst="rect">
            <a:avLst/>
          </a:prstGeom>
          <a:noFill/>
          <a:ln/>
        </p:spPr>
        <p:txBody>
          <a:bodyPr wrap="square" lIns="0" tIns="0" rIns="0" bIns="0" rtlCol="0" anchor="t"/>
          <a:lstStyle/>
          <a:p>
            <a:pPr indent="0" marL="0">
              <a:buNone/>
            </a:pPr>
            <a:r>
              <a:rPr lang="en-US" sz="1400" dirty="0">
                <a:solidFill>
                  <a:schemeClr val="bg2"/>
                </a:solidFill>
              </a:rPr>
              <a:t>to send the whole document (full context). SketchRAG sends 1,213.</a:t>
            </a:r>
            <a:endParaRPr lang="en-US" sz="1400" dirty="0"/>
          </a:p>
        </p:txBody>
      </p:sp>
      <p:sp>
        <p:nvSpPr>
          <p:cNvPr id="10" name="problem card 2"/>
          <p:cNvSpPr/>
          <p:nvPr/>
        </p:nvSpPr>
        <p:spPr>
          <a:xfrm>
            <a:off x="4297680" y="1783080"/>
            <a:ext cx="3474720" cy="3566160"/>
          </a:xfrm>
          <a:prstGeom prst="roundRect">
            <a:avLst>
              <a:gd name="adj" fmla="val 3158"/>
            </a:avLst>
          </a:prstGeom>
          <a:solidFill>
            <a:schemeClr val="tx2"/>
          </a:solidFill>
          <a:ln w="9525">
            <a:solidFill>
              <a:schemeClr val="accent6"/>
            </a:solidFill>
            <a:prstDash val="solid"/>
          </a:ln>
        </p:spPr>
      </p:sp>
      <p:sp>
        <p:nvSpPr>
          <p:cNvPr id="11" name="problem 2 circle"/>
          <p:cNvSpPr/>
          <p:nvPr/>
        </p:nvSpPr>
        <p:spPr>
          <a:xfrm>
            <a:off x="4617720" y="2103120"/>
            <a:ext cx="685800" cy="685800"/>
          </a:xfrm>
          <a:prstGeom prst="ellipse">
            <a:avLst/>
          </a:prstGeom>
          <a:solidFill>
            <a:schemeClr val="accent2">
              <a:alpha val="18000"/>
            </a:schemeClr>
          </a:solidFill>
          <a:ln/>
        </p:spPr>
      </p:sp>
      <p:pic>
        <p:nvPicPr>
          <p:cNvPr id="12" name="problem 2 icon" descr="preencoded.png">    </p:cNvPr>
          <p:cNvPicPr>
            <a:picLocks noChangeAspect="1"/>
          </p:cNvPicPr>
          <p:nvPr/>
        </p:nvPicPr>
        <p:blipFill>
          <a:blip r:embed="rId2"/>
          <a:stretch>
            <a:fillRect/>
          </a:stretch>
        </p:blipFill>
        <p:spPr>
          <a:xfrm>
            <a:off x="4789170" y="2274570"/>
            <a:ext cx="342900" cy="342900"/>
          </a:xfrm>
          <a:prstGeom prst="rect">
            <a:avLst/>
          </a:prstGeom>
        </p:spPr>
      </p:pic>
      <p:sp>
        <p:nvSpPr>
          <p:cNvPr id="13" name="Text 9"/>
          <p:cNvSpPr txBox="1"/>
          <p:nvPr/>
        </p:nvSpPr>
        <p:spPr>
          <a:xfrm>
            <a:off x="4617720" y="2971800"/>
            <a:ext cx="2926080" cy="822960"/>
          </a:xfrm>
          <a:prstGeom prst="rect">
            <a:avLst/>
          </a:prstGeom>
          <a:noFill/>
          <a:ln/>
        </p:spPr>
        <p:txBody>
          <a:bodyPr wrap="square" lIns="0" tIns="0" rIns="0" bIns="0" rtlCol="0" anchor="ctr"/>
          <a:lstStyle/>
          <a:p>
            <a:pPr indent="0" marL="0">
              <a:buNone/>
            </a:pPr>
            <a:r>
              <a:rPr lang="en-US" sz="4800" b="1" dirty="0">
                <a:solidFill>
                  <a:schemeClr val="accent2"/>
                </a:solidFill>
              </a:rPr>
              <a:t>61.5 s</a:t>
            </a:r>
            <a:endParaRPr lang="en-US" sz="4800" dirty="0"/>
          </a:p>
        </p:txBody>
      </p:sp>
      <p:sp>
        <p:nvSpPr>
          <p:cNvPr id="14" name="Text 10"/>
          <p:cNvSpPr txBox="1"/>
          <p:nvPr/>
        </p:nvSpPr>
        <p:spPr>
          <a:xfrm>
            <a:off x="4617720" y="3840480"/>
            <a:ext cx="2926080" cy="365760"/>
          </a:xfrm>
          <a:prstGeom prst="rect">
            <a:avLst/>
          </a:prstGeom>
          <a:noFill/>
          <a:ln/>
        </p:spPr>
        <p:txBody>
          <a:bodyPr wrap="square" lIns="0" tIns="0" rIns="0" bIns="0" rtlCol="0" anchor="ctr"/>
          <a:lstStyle/>
          <a:p>
            <a:pPr indent="0" marL="0">
              <a:buNone/>
            </a:pPr>
            <a:r>
              <a:rPr lang="en-US" sz="1800" b="1" dirty="0">
                <a:solidFill>
                  <a:schemeClr val="bg1"/>
                </a:solidFill>
              </a:rPr>
              <a:t>LLM time per question</a:t>
            </a:r>
            <a:endParaRPr lang="en-US" sz="1800" dirty="0"/>
          </a:p>
        </p:txBody>
      </p:sp>
      <p:sp>
        <p:nvSpPr>
          <p:cNvPr id="15" name="Text 11"/>
          <p:cNvSpPr txBox="1"/>
          <p:nvPr/>
        </p:nvSpPr>
        <p:spPr>
          <a:xfrm>
            <a:off x="4617720" y="4251960"/>
            <a:ext cx="2880360" cy="868680"/>
          </a:xfrm>
          <a:prstGeom prst="rect">
            <a:avLst/>
          </a:prstGeom>
          <a:noFill/>
          <a:ln/>
        </p:spPr>
        <p:txBody>
          <a:bodyPr wrap="square" lIns="0" tIns="0" rIns="0" bIns="0" rtlCol="0" anchor="t"/>
          <a:lstStyle/>
          <a:p>
            <a:pPr indent="0" marL="0">
              <a:buNone/>
            </a:pPr>
            <a:r>
              <a:rPr lang="en-US" sz="1400" dirty="0">
                <a:solidFill>
                  <a:schemeClr val="bg2"/>
                </a:solidFill>
              </a:rPr>
              <a:t>and still only 16.7 on PassKey: truncating the middle loses the needle.</a:t>
            </a:r>
            <a:endParaRPr lang="en-US" sz="1400" dirty="0"/>
          </a:p>
        </p:txBody>
      </p:sp>
      <p:sp>
        <p:nvSpPr>
          <p:cNvPr id="16" name="problem card 3"/>
          <p:cNvSpPr/>
          <p:nvPr/>
        </p:nvSpPr>
        <p:spPr>
          <a:xfrm>
            <a:off x="8046720" y="1783080"/>
            <a:ext cx="3474720" cy="3566160"/>
          </a:xfrm>
          <a:prstGeom prst="roundRect">
            <a:avLst>
              <a:gd name="adj" fmla="val 3158"/>
            </a:avLst>
          </a:prstGeom>
          <a:solidFill>
            <a:schemeClr val="tx2"/>
          </a:solidFill>
          <a:ln w="9525">
            <a:solidFill>
              <a:schemeClr val="accent6"/>
            </a:solidFill>
            <a:prstDash val="solid"/>
          </a:ln>
        </p:spPr>
      </p:sp>
      <p:sp>
        <p:nvSpPr>
          <p:cNvPr id="17" name="problem 3 circle"/>
          <p:cNvSpPr/>
          <p:nvPr/>
        </p:nvSpPr>
        <p:spPr>
          <a:xfrm>
            <a:off x="8366760" y="2103120"/>
            <a:ext cx="685800" cy="685800"/>
          </a:xfrm>
          <a:prstGeom prst="ellipse">
            <a:avLst/>
          </a:prstGeom>
          <a:solidFill>
            <a:schemeClr val="accent3">
              <a:alpha val="18000"/>
            </a:schemeClr>
          </a:solidFill>
          <a:ln/>
        </p:spPr>
      </p:sp>
      <p:pic>
        <p:nvPicPr>
          <p:cNvPr id="18" name="problem 3 icon" descr="preencoded.png">    </p:cNvPr>
          <p:cNvPicPr>
            <a:picLocks noChangeAspect="1"/>
          </p:cNvPicPr>
          <p:nvPr/>
        </p:nvPicPr>
        <p:blipFill>
          <a:blip r:embed="rId3"/>
          <a:stretch>
            <a:fillRect/>
          </a:stretch>
        </p:blipFill>
        <p:spPr>
          <a:xfrm>
            <a:off x="8538210" y="2274570"/>
            <a:ext cx="342900" cy="342900"/>
          </a:xfrm>
          <a:prstGeom prst="rect">
            <a:avLst/>
          </a:prstGeom>
        </p:spPr>
      </p:pic>
      <p:sp>
        <p:nvSpPr>
          <p:cNvPr id="19" name="Text 14"/>
          <p:cNvSpPr txBox="1"/>
          <p:nvPr/>
        </p:nvSpPr>
        <p:spPr>
          <a:xfrm>
            <a:off x="8366760" y="2971800"/>
            <a:ext cx="2926080" cy="822960"/>
          </a:xfrm>
          <a:prstGeom prst="rect">
            <a:avLst/>
          </a:prstGeom>
          <a:noFill/>
          <a:ln/>
        </p:spPr>
        <p:txBody>
          <a:bodyPr wrap="square" lIns="0" tIns="0" rIns="0" bIns="0" rtlCol="0" anchor="ctr"/>
          <a:lstStyle/>
          <a:p>
            <a:pPr indent="0" marL="0">
              <a:buNone/>
            </a:pPr>
            <a:r>
              <a:rPr lang="en-US" sz="4800" b="1" dirty="0">
                <a:solidFill>
                  <a:schemeClr val="accent3"/>
                </a:solidFill>
              </a:rPr>
              <a:t>146 MB</a:t>
            </a:r>
            <a:endParaRPr lang="en-US" sz="4800" dirty="0"/>
          </a:p>
        </p:txBody>
      </p:sp>
      <p:sp>
        <p:nvSpPr>
          <p:cNvPr id="20" name="Text 15"/>
          <p:cNvSpPr txBox="1"/>
          <p:nvPr/>
        </p:nvSpPr>
        <p:spPr>
          <a:xfrm>
            <a:off x="8366760" y="3840480"/>
            <a:ext cx="2926080" cy="365760"/>
          </a:xfrm>
          <a:prstGeom prst="rect">
            <a:avLst/>
          </a:prstGeom>
          <a:noFill/>
          <a:ln/>
        </p:spPr>
        <p:txBody>
          <a:bodyPr wrap="square" lIns="0" tIns="0" rIns="0" bIns="0" rtlCol="0" anchor="ctr"/>
          <a:lstStyle/>
          <a:p>
            <a:pPr indent="0" marL="0">
              <a:buNone/>
            </a:pPr>
            <a:r>
              <a:rPr lang="en-US" sz="1800" b="1" dirty="0">
                <a:solidFill>
                  <a:schemeClr val="bg1"/>
                </a:solidFill>
              </a:rPr>
              <a:t>dense index at 8.5M words</a:t>
            </a:r>
            <a:endParaRPr lang="en-US" sz="1800" dirty="0"/>
          </a:p>
        </p:txBody>
      </p:sp>
      <p:sp>
        <p:nvSpPr>
          <p:cNvPr id="21" name="Text 16"/>
          <p:cNvSpPr txBox="1"/>
          <p:nvPr/>
        </p:nvSpPr>
        <p:spPr>
          <a:xfrm>
            <a:off x="8366760" y="4251960"/>
            <a:ext cx="2880360" cy="868680"/>
          </a:xfrm>
          <a:prstGeom prst="rect">
            <a:avLst/>
          </a:prstGeom>
          <a:noFill/>
          <a:ln/>
        </p:spPr>
        <p:txBody>
          <a:bodyPr wrap="square" lIns="0" tIns="0" rIns="0" bIns="0" rtlCol="0" anchor="t"/>
          <a:lstStyle/>
          <a:p>
            <a:pPr indent="0" marL="0">
              <a:buNone/>
            </a:pPr>
            <a:r>
              <a:rPr lang="en-US" sz="1400" dirty="0">
                <a:solidFill>
                  <a:schemeClr val="bg2"/>
                </a:solidFill>
              </a:rPr>
              <a:t>a vector store grows with every chunk it ever sees.</a:t>
            </a:r>
            <a:endParaRPr lang="en-US" sz="1400" dirty="0"/>
          </a:p>
        </p:txBody>
      </p:sp>
      <p:sp>
        <p:nvSpPr>
          <p:cNvPr id="22" name="Text 17"/>
          <p:cNvSpPr txBox="1"/>
          <p:nvPr/>
        </p:nvSpPr>
        <p:spPr>
          <a:xfrm>
            <a:off x="548640" y="5669280"/>
            <a:ext cx="10972800" cy="320040"/>
          </a:xfrm>
          <a:prstGeom prst="rect">
            <a:avLst/>
          </a:prstGeom>
          <a:noFill/>
          <a:ln/>
        </p:spPr>
        <p:txBody>
          <a:bodyPr wrap="square" lIns="0" tIns="0" rIns="0" bIns="0" rtlCol="0" anchor="ctr"/>
          <a:lstStyle/>
          <a:p>
            <a:pPr indent="0" marL="0">
              <a:buNone/>
            </a:pPr>
            <a:r>
              <a:rPr lang="en-US" sz="1200" dirty="0">
                <a:solidFill>
                  <a:schemeClr val="bg2"/>
                </a:solidFill>
              </a:rPr>
              <a:t>Numbers from our own runs: 350 test questions, qwen2.5:7b-instruct; long stream = 8.5M words of LongBench documents.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OUR IDEA</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Keep a fixed-size summary, and know when not to trust it</a:t>
            </a:r>
            <a:endParaRPr lang="en-US" sz="3400" dirty="0"/>
          </a:p>
        </p:txBody>
      </p:sp>
      <p:sp>
        <p:nvSpPr>
          <p:cNvPr id="4" name="idea 1 circle"/>
          <p:cNvSpPr/>
          <p:nvPr/>
        </p:nvSpPr>
        <p:spPr>
          <a:xfrm>
            <a:off x="548640" y="1691640"/>
            <a:ext cx="868680" cy="868680"/>
          </a:xfrm>
          <a:prstGeom prst="ellipse">
            <a:avLst/>
          </a:prstGeom>
          <a:solidFill>
            <a:schemeClr val="accent1">
              <a:alpha val="18000"/>
            </a:schemeClr>
          </a:solidFill>
          <a:ln/>
        </p:spPr>
      </p:sp>
      <p:pic>
        <p:nvPicPr>
          <p:cNvPr id="5" name="idea 1 icon" descr="preencoded.png">    </p:cNvPr>
          <p:cNvPicPr>
            <a:picLocks noChangeAspect="1"/>
          </p:cNvPicPr>
          <p:nvPr/>
        </p:nvPicPr>
        <p:blipFill>
          <a:blip r:embed="rId1"/>
          <a:stretch>
            <a:fillRect/>
          </a:stretch>
        </p:blipFill>
        <p:spPr>
          <a:xfrm>
            <a:off x="765810" y="1908810"/>
            <a:ext cx="434340" cy="434340"/>
          </a:xfrm>
          <a:prstGeom prst="rect">
            <a:avLst/>
          </a:prstGeom>
        </p:spPr>
      </p:pic>
      <p:sp>
        <p:nvSpPr>
          <p:cNvPr id="6" name="Text 3"/>
          <p:cNvSpPr txBox="1"/>
          <p:nvPr/>
        </p:nvSpPr>
        <p:spPr>
          <a:xfrm>
            <a:off x="1691640" y="1709928"/>
            <a:ext cx="5669280" cy="411480"/>
          </a:xfrm>
          <a:prstGeom prst="rect">
            <a:avLst/>
          </a:prstGeom>
          <a:noFill/>
          <a:ln/>
        </p:spPr>
        <p:txBody>
          <a:bodyPr wrap="square" lIns="0" tIns="0" rIns="0" bIns="0" rtlCol="0" anchor="ctr"/>
          <a:lstStyle/>
          <a:p>
            <a:pPr indent="0" marL="0">
              <a:buNone/>
            </a:pPr>
            <a:r>
              <a:rPr lang="en-US" sz="2200" b="1" dirty="0">
                <a:solidFill>
                  <a:schemeClr val="accent1"/>
                </a:solidFill>
              </a:rPr>
              <a:t>Bounded hot memory</a:t>
            </a:r>
            <a:endParaRPr lang="en-US" sz="2200" dirty="0"/>
          </a:p>
        </p:txBody>
      </p:sp>
      <p:sp>
        <p:nvSpPr>
          <p:cNvPr id="7" name="Text 4"/>
          <p:cNvSpPr txBox="1"/>
          <p:nvPr/>
        </p:nvSpPr>
        <p:spPr>
          <a:xfrm>
            <a:off x="1691640" y="2148840"/>
            <a:ext cx="5760720" cy="868680"/>
          </a:xfrm>
          <a:prstGeom prst="rect">
            <a:avLst/>
          </a:prstGeom>
          <a:noFill/>
          <a:ln/>
        </p:spPr>
        <p:txBody>
          <a:bodyPr wrap="square" lIns="0" tIns="0" rIns="0" bIns="0" rtlCol="0" anchor="t"/>
          <a:lstStyle/>
          <a:p>
            <a:pPr indent="0" marL="0">
              <a:buNone/>
            </a:pPr>
            <a:r>
              <a:rPr lang="en-US" sz="1500" dirty="0">
                <a:solidFill>
                  <a:schemeClr val="bg1"/>
                </a:solidFill>
              </a:rPr>
              <a:t>Streaming sketches summarise everything read so far in a fixed budget of cells: clustering, Count-Min Sketch, Misra-Gries, short digests.</a:t>
            </a:r>
            <a:endParaRPr lang="en-US" sz="1500" dirty="0"/>
          </a:p>
        </p:txBody>
      </p:sp>
      <p:sp>
        <p:nvSpPr>
          <p:cNvPr id="8" name="idea 2 circle"/>
          <p:cNvSpPr/>
          <p:nvPr/>
        </p:nvSpPr>
        <p:spPr>
          <a:xfrm>
            <a:off x="548640" y="3154680"/>
            <a:ext cx="868680" cy="868680"/>
          </a:xfrm>
          <a:prstGeom prst="ellipse">
            <a:avLst/>
          </a:prstGeom>
          <a:solidFill>
            <a:schemeClr val="accent4">
              <a:alpha val="18000"/>
            </a:schemeClr>
          </a:solidFill>
          <a:ln/>
        </p:spPr>
      </p:sp>
      <p:pic>
        <p:nvPicPr>
          <p:cNvPr id="9" name="idea 2 icon" descr="preencoded.png">    </p:cNvPr>
          <p:cNvPicPr>
            <a:picLocks noChangeAspect="1"/>
          </p:cNvPicPr>
          <p:nvPr/>
        </p:nvPicPr>
        <p:blipFill>
          <a:blip r:embed="rId2"/>
          <a:stretch>
            <a:fillRect/>
          </a:stretch>
        </p:blipFill>
        <p:spPr>
          <a:xfrm>
            <a:off x="765810" y="3371850"/>
            <a:ext cx="434340" cy="434340"/>
          </a:xfrm>
          <a:prstGeom prst="rect">
            <a:avLst/>
          </a:prstGeom>
        </p:spPr>
      </p:pic>
      <p:sp>
        <p:nvSpPr>
          <p:cNvPr id="10" name="Text 6"/>
          <p:cNvSpPr txBox="1"/>
          <p:nvPr/>
        </p:nvSpPr>
        <p:spPr>
          <a:xfrm>
            <a:off x="1691640" y="3172968"/>
            <a:ext cx="5669280" cy="411480"/>
          </a:xfrm>
          <a:prstGeom prst="rect">
            <a:avLst/>
          </a:prstGeom>
          <a:noFill/>
          <a:ln/>
        </p:spPr>
        <p:txBody>
          <a:bodyPr wrap="square" lIns="0" tIns="0" rIns="0" bIns="0" rtlCol="0" anchor="ctr"/>
          <a:lstStyle/>
          <a:p>
            <a:pPr indent="0" marL="0">
              <a:buNone/>
            </a:pPr>
            <a:r>
              <a:rPr lang="en-US" sz="2200" b="1" dirty="0">
                <a:solidFill>
                  <a:schemeClr val="accent4"/>
                </a:solidFill>
              </a:rPr>
              <a:t>Cold storage</a:t>
            </a:r>
            <a:endParaRPr lang="en-US" sz="2200" dirty="0"/>
          </a:p>
        </p:txBody>
      </p:sp>
      <p:sp>
        <p:nvSpPr>
          <p:cNvPr id="11" name="Text 7"/>
          <p:cNvSpPr txBox="1"/>
          <p:nvPr/>
        </p:nvSpPr>
        <p:spPr>
          <a:xfrm>
            <a:off x="1691640" y="3611880"/>
            <a:ext cx="5760720" cy="868680"/>
          </a:xfrm>
          <a:prstGeom prst="rect">
            <a:avLst/>
          </a:prstGeom>
          <a:noFill/>
          <a:ln/>
        </p:spPr>
        <p:txBody>
          <a:bodyPr wrap="square" lIns="0" tIns="0" rIns="0" bIns="0" rtlCol="0" anchor="t"/>
          <a:lstStyle/>
          <a:p>
            <a:pPr indent="0" marL="0">
              <a:buNone/>
            </a:pPr>
            <a:r>
              <a:rPr lang="en-US" sz="1500" dirty="0">
                <a:solidFill>
                  <a:schemeClr val="bg1"/>
                </a:solidFill>
              </a:rPr>
              <a:t>Every raw chunk is kept on disk behind pointers. It is never searched, only read when needed.</a:t>
            </a:r>
            <a:endParaRPr lang="en-US" sz="1500" dirty="0"/>
          </a:p>
        </p:txBody>
      </p:sp>
      <p:sp>
        <p:nvSpPr>
          <p:cNvPr id="12" name="idea 3 circle"/>
          <p:cNvSpPr/>
          <p:nvPr/>
        </p:nvSpPr>
        <p:spPr>
          <a:xfrm>
            <a:off x="548640" y="4617720"/>
            <a:ext cx="868680" cy="868680"/>
          </a:xfrm>
          <a:prstGeom prst="ellipse">
            <a:avLst/>
          </a:prstGeom>
          <a:solidFill>
            <a:schemeClr val="accent3">
              <a:alpha val="18000"/>
            </a:schemeClr>
          </a:solidFill>
          <a:ln/>
        </p:spPr>
      </p:sp>
      <p:pic>
        <p:nvPicPr>
          <p:cNvPr id="13" name="idea 3 icon" descr="preencoded.png">    </p:cNvPr>
          <p:cNvPicPr>
            <a:picLocks noChangeAspect="1"/>
          </p:cNvPicPr>
          <p:nvPr/>
        </p:nvPicPr>
        <p:blipFill>
          <a:blip r:embed="rId3"/>
          <a:stretch>
            <a:fillRect/>
          </a:stretch>
        </p:blipFill>
        <p:spPr>
          <a:xfrm>
            <a:off x="765810" y="4834890"/>
            <a:ext cx="434340" cy="434340"/>
          </a:xfrm>
          <a:prstGeom prst="rect">
            <a:avLst/>
          </a:prstGeom>
        </p:spPr>
      </p:pic>
      <p:sp>
        <p:nvSpPr>
          <p:cNvPr id="14" name="Text 9"/>
          <p:cNvSpPr txBox="1"/>
          <p:nvPr/>
        </p:nvSpPr>
        <p:spPr>
          <a:xfrm>
            <a:off x="1691640" y="4636008"/>
            <a:ext cx="5669280" cy="411480"/>
          </a:xfrm>
          <a:prstGeom prst="rect">
            <a:avLst/>
          </a:prstGeom>
          <a:noFill/>
          <a:ln/>
        </p:spPr>
        <p:txBody>
          <a:bodyPr wrap="square" lIns="0" tIns="0" rIns="0" bIns="0" rtlCol="0" anchor="ctr"/>
          <a:lstStyle/>
          <a:p>
            <a:pPr indent="0" marL="0">
              <a:buNone/>
            </a:pPr>
            <a:r>
              <a:rPr lang="en-US" sz="2200" b="1" dirty="0">
                <a:solidFill>
                  <a:schemeClr val="accent3"/>
                </a:solidFill>
              </a:rPr>
              <a:t>Error-bound gate</a:t>
            </a:r>
            <a:endParaRPr lang="en-US" sz="2200" dirty="0"/>
          </a:p>
        </p:txBody>
      </p:sp>
      <p:sp>
        <p:nvSpPr>
          <p:cNvPr id="15" name="Text 10"/>
          <p:cNvSpPr txBox="1"/>
          <p:nvPr/>
        </p:nvSpPr>
        <p:spPr>
          <a:xfrm>
            <a:off x="1691640" y="5074920"/>
            <a:ext cx="5760720" cy="868680"/>
          </a:xfrm>
          <a:prstGeom prst="rect">
            <a:avLst/>
          </a:prstGeom>
          <a:noFill/>
          <a:ln/>
        </p:spPr>
        <p:txBody>
          <a:bodyPr wrap="square" lIns="0" tIns="0" rIns="0" bIns="0" rtlCol="0" anchor="t"/>
          <a:lstStyle/>
          <a:p>
            <a:pPr indent="0" marL="0">
              <a:buNone/>
            </a:pPr>
            <a:r>
              <a:rPr lang="en-US" sz="1500" dirty="0">
                <a:solidFill>
                  <a:schemeClr val="bg1"/>
                </a:solidFill>
              </a:rPr>
              <a:t>At question time, each cell's Count-Min Sketch says whether its digest can vouch for the rare words in the question. If not, read the raw chunks.</a:t>
            </a:r>
            <a:endParaRPr lang="en-US" sz="1500" dirty="0"/>
          </a:p>
        </p:txBody>
      </p:sp>
      <p:sp>
        <p:nvSpPr>
          <p:cNvPr id="16" name="idea summary card"/>
          <p:cNvSpPr/>
          <p:nvPr/>
        </p:nvSpPr>
        <p:spPr>
          <a:xfrm>
            <a:off x="8001000" y="1691640"/>
            <a:ext cx="3611880" cy="4069080"/>
          </a:xfrm>
          <a:prstGeom prst="roundRect">
            <a:avLst>
              <a:gd name="adj" fmla="val 3038"/>
            </a:avLst>
          </a:prstGeom>
          <a:solidFill>
            <a:schemeClr val="tx2"/>
          </a:solidFill>
          <a:ln w="9525">
            <a:solidFill>
              <a:schemeClr val="accent6"/>
            </a:solidFill>
            <a:prstDash val="solid"/>
          </a:ln>
        </p:spPr>
      </p:sp>
      <p:sp>
        <p:nvSpPr>
          <p:cNvPr id="17" name="Text 12"/>
          <p:cNvSpPr txBox="1"/>
          <p:nvPr/>
        </p:nvSpPr>
        <p:spPr>
          <a:xfrm>
            <a:off x="8321040" y="1965960"/>
            <a:ext cx="3017520" cy="320040"/>
          </a:xfrm>
          <a:prstGeom prst="rect">
            <a:avLst/>
          </a:prstGeom>
          <a:noFill/>
          <a:ln/>
        </p:spPr>
        <p:txBody>
          <a:bodyPr wrap="square" lIns="0" tIns="0" rIns="0" bIns="0" rtlCol="0" anchor="ctr"/>
          <a:lstStyle/>
          <a:p>
            <a:pPr indent="0" marL="0">
              <a:buNone/>
            </a:pPr>
            <a:r>
              <a:rPr lang="en-US" sz="1300" b="1" dirty="0">
                <a:solidFill>
                  <a:schemeClr val="accent1"/>
                </a:solidFill>
              </a:rPr>
              <a:t>In one line</a:t>
            </a:r>
            <a:endParaRPr lang="en-US" sz="1300" dirty="0"/>
          </a:p>
        </p:txBody>
      </p:sp>
      <p:sp>
        <p:nvSpPr>
          <p:cNvPr id="18" name="Text 13"/>
          <p:cNvSpPr txBox="1"/>
          <p:nvPr/>
        </p:nvSpPr>
        <p:spPr>
          <a:xfrm>
            <a:off x="8321040" y="2377440"/>
            <a:ext cx="3017520" cy="2011680"/>
          </a:xfrm>
          <a:prstGeom prst="rect">
            <a:avLst/>
          </a:prstGeom>
          <a:noFill/>
          <a:ln/>
        </p:spPr>
        <p:txBody>
          <a:bodyPr wrap="square" lIns="0" tIns="0" rIns="0" bIns="0" rtlCol="0" anchor="t"/>
          <a:lstStyle/>
          <a:p>
            <a:pPr indent="0" marL="0">
              <a:buNone/>
            </a:pPr>
            <a:r>
              <a:rPr lang="en-US" sz="2000" i="1" dirty="0">
                <a:solidFill>
                  <a:schemeClr val="bg1"/>
                </a:solidFill>
              </a:rPr>
              <a:t>Search a small summary. Read the original only where a sketch's error bound says the summary may have dropped the fact.</a:t>
            </a:r>
            <a:endParaRPr lang="en-US" sz="2000" dirty="0"/>
          </a:p>
        </p:txBody>
      </p:sp>
      <p:sp>
        <p:nvSpPr>
          <p:cNvPr id="19" name="Text 14"/>
          <p:cNvSpPr txBox="1"/>
          <p:nvPr/>
        </p:nvSpPr>
        <p:spPr>
          <a:xfrm>
            <a:off x="8321040" y="4572000"/>
            <a:ext cx="3017520" cy="914400"/>
          </a:xfrm>
          <a:prstGeom prst="rect">
            <a:avLst/>
          </a:prstGeom>
          <a:noFill/>
          <a:ln/>
        </p:spPr>
        <p:txBody>
          <a:bodyPr wrap="square" lIns="0" tIns="0" rIns="0" bIns="0" rtlCol="0" anchor="t"/>
          <a:lstStyle/>
          <a:p>
            <a:pPr indent="0" marL="0">
              <a:buNone/>
            </a:pPr>
            <a:r>
              <a:rPr lang="en-US" sz="1300" dirty="0">
                <a:solidFill>
                  <a:schemeClr val="bg2"/>
                </a:solidFill>
              </a:rPr>
              <a:t>Memory stays bounded; context stays small; exact facts are still recoverable.</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ARCHITECTURE</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From a stream of chunks to an answer</a:t>
            </a:r>
            <a:endParaRPr lang="en-US" sz="3400" dirty="0"/>
          </a:p>
        </p:txBody>
      </p:sp>
      <p:sp>
        <p:nvSpPr>
          <p:cNvPr id="4" name="stream box"/>
          <p:cNvSpPr/>
          <p:nvPr/>
        </p:nvSpPr>
        <p:spPr>
          <a:xfrm>
            <a:off x="548640" y="1965960"/>
            <a:ext cx="1828800" cy="1463040"/>
          </a:xfrm>
          <a:prstGeom prst="roundRect">
            <a:avLst>
              <a:gd name="adj" fmla="val 6250"/>
            </a:avLst>
          </a:prstGeom>
          <a:solidFill>
            <a:schemeClr val="tx2"/>
          </a:solidFill>
          <a:ln w="19050">
            <a:solidFill>
              <a:schemeClr val="accent2"/>
            </a:solidFill>
            <a:prstDash val="solid"/>
          </a:ln>
        </p:spPr>
      </p:sp>
      <p:sp>
        <p:nvSpPr>
          <p:cNvPr id="5" name="Text 3"/>
          <p:cNvSpPr txBox="1"/>
          <p:nvPr/>
        </p:nvSpPr>
        <p:spPr>
          <a:xfrm>
            <a:off x="685800" y="2075688"/>
            <a:ext cx="1554480" cy="347472"/>
          </a:xfrm>
          <a:prstGeom prst="rect">
            <a:avLst/>
          </a:prstGeom>
          <a:noFill/>
          <a:ln/>
        </p:spPr>
        <p:txBody>
          <a:bodyPr wrap="square" lIns="0" tIns="0" rIns="0" bIns="0" rtlCol="0" anchor="ctr"/>
          <a:lstStyle/>
          <a:p>
            <a:pPr algn="ctr" indent="0" marL="0">
              <a:buNone/>
            </a:pPr>
            <a:r>
              <a:rPr lang="en-US" sz="1500" b="1" dirty="0">
                <a:solidFill>
                  <a:schemeClr val="accent2"/>
                </a:solidFill>
              </a:rPr>
              <a:t>Stream</a:t>
            </a:r>
            <a:endParaRPr lang="en-US" sz="1500" dirty="0"/>
          </a:p>
        </p:txBody>
      </p:sp>
      <p:sp>
        <p:nvSpPr>
          <p:cNvPr id="6" name="Text 4"/>
          <p:cNvSpPr txBox="1"/>
          <p:nvPr/>
        </p:nvSpPr>
        <p:spPr>
          <a:xfrm>
            <a:off x="685800" y="2441448"/>
            <a:ext cx="1554480" cy="896112"/>
          </a:xfrm>
          <a:prstGeom prst="rect">
            <a:avLst/>
          </a:prstGeom>
          <a:noFill/>
          <a:ln/>
        </p:spPr>
        <p:txBody>
          <a:bodyPr wrap="square" lIns="0" tIns="0" rIns="0" bIns="0" rtlCol="0" anchor="t"/>
          <a:lstStyle/>
          <a:p>
            <a:pPr algn="ctr" indent="0" marL="0">
              <a:buNone/>
            </a:pPr>
            <a:r>
              <a:rPr lang="en-US" sz="1250" dirty="0">
                <a:solidFill>
                  <a:schemeClr val="bg1"/>
                </a:solidFill>
              </a:rPr>
              <a:t>documents arrive as 150-word chunks</a:t>
            </a:r>
            <a:endParaRPr lang="en-US" sz="1250" dirty="0"/>
          </a:p>
        </p:txBody>
      </p:sp>
      <p:sp>
        <p:nvSpPr>
          <p:cNvPr id="7" name="hot memory box"/>
          <p:cNvSpPr/>
          <p:nvPr/>
        </p:nvSpPr>
        <p:spPr>
          <a:xfrm>
            <a:off x="2880360" y="1600200"/>
            <a:ext cx="3017520" cy="2194560"/>
          </a:xfrm>
          <a:prstGeom prst="roundRect">
            <a:avLst>
              <a:gd name="adj" fmla="val 4167"/>
            </a:avLst>
          </a:prstGeom>
          <a:solidFill>
            <a:schemeClr val="tx2"/>
          </a:solidFill>
          <a:ln w="19050">
            <a:solidFill>
              <a:schemeClr val="accent1"/>
            </a:solidFill>
            <a:prstDash val="solid"/>
          </a:ln>
        </p:spPr>
      </p:sp>
      <p:sp>
        <p:nvSpPr>
          <p:cNvPr id="8" name="Text 6"/>
          <p:cNvSpPr txBox="1"/>
          <p:nvPr/>
        </p:nvSpPr>
        <p:spPr>
          <a:xfrm>
            <a:off x="3017520" y="1709928"/>
            <a:ext cx="2743200" cy="347472"/>
          </a:xfrm>
          <a:prstGeom prst="rect">
            <a:avLst/>
          </a:prstGeom>
          <a:noFill/>
          <a:ln/>
        </p:spPr>
        <p:txBody>
          <a:bodyPr wrap="square" lIns="0" tIns="0" rIns="0" bIns="0" rtlCol="0" anchor="ctr"/>
          <a:lstStyle/>
          <a:p>
            <a:pPr algn="ctr" indent="0" marL="0">
              <a:buNone/>
            </a:pPr>
            <a:r>
              <a:rPr lang="en-US" sz="1500" b="1" dirty="0">
                <a:solidFill>
                  <a:schemeClr val="accent1"/>
                </a:solidFill>
              </a:rPr>
              <a:t>Hot memory (bounded)</a:t>
            </a:r>
            <a:endParaRPr lang="en-US" sz="1500" dirty="0"/>
          </a:p>
        </p:txBody>
      </p:sp>
      <p:sp>
        <p:nvSpPr>
          <p:cNvPr id="9" name="Text 7"/>
          <p:cNvSpPr txBox="1"/>
          <p:nvPr/>
        </p:nvSpPr>
        <p:spPr>
          <a:xfrm>
            <a:off x="3017520" y="2075688"/>
            <a:ext cx="2743200" cy="1627632"/>
          </a:xfrm>
          <a:prstGeom prst="rect">
            <a:avLst/>
          </a:prstGeom>
          <a:noFill/>
          <a:ln/>
        </p:spPr>
        <p:txBody>
          <a:bodyPr wrap="square" lIns="0" tIns="0" rIns="0" bIns="0" rtlCol="0" anchor="t"/>
          <a:lstStyle/>
          <a:p>
            <a:pPr algn="ctr" indent="0" marL="0">
              <a:buNone/>
            </a:pPr>
            <a:r>
              <a:rPr lang="en-US" sz="1250" dirty="0">
                <a:solidFill>
                  <a:schemeClr val="bg1"/>
                </a:solidFill>
              </a:rPr>
              <a:t>≤ 64 cells: centroid + exemplars, Count-Min Sketch, 120-word digest</a:t>
            </a:r>
            <a:endParaRPr lang="en-US" sz="1250" dirty="0"/>
          </a:p>
          <a:p>
            <a:pPr algn="ctr" indent="0" marL="0">
              <a:buNone/>
            </a:pPr>
            <a:r>
              <a:rPr lang="en-US" sz="1250" dirty="0">
                <a:solidFill>
                  <a:schemeClr val="bg1"/>
                </a:solidFill>
              </a:rPr>
              <a:t>Global: Misra-Gries topics, streaming IDF</a:t>
            </a:r>
            <a:endParaRPr lang="en-US" sz="1250" dirty="0"/>
          </a:p>
        </p:txBody>
      </p:sp>
      <p:sp>
        <p:nvSpPr>
          <p:cNvPr id="10" name="cold storage box"/>
          <p:cNvSpPr/>
          <p:nvPr/>
        </p:nvSpPr>
        <p:spPr>
          <a:xfrm>
            <a:off x="2880360" y="4343400"/>
            <a:ext cx="3017520" cy="1325880"/>
          </a:xfrm>
          <a:prstGeom prst="roundRect">
            <a:avLst>
              <a:gd name="adj" fmla="val 6897"/>
            </a:avLst>
          </a:prstGeom>
          <a:solidFill>
            <a:schemeClr val="tx2"/>
          </a:solidFill>
          <a:ln w="19050">
            <a:solidFill>
              <a:schemeClr val="accent4"/>
            </a:solidFill>
            <a:prstDash val="solid"/>
          </a:ln>
        </p:spPr>
      </p:sp>
      <p:sp>
        <p:nvSpPr>
          <p:cNvPr id="11" name="Text 9"/>
          <p:cNvSpPr txBox="1"/>
          <p:nvPr/>
        </p:nvSpPr>
        <p:spPr>
          <a:xfrm>
            <a:off x="3017520" y="4453128"/>
            <a:ext cx="2743200" cy="347472"/>
          </a:xfrm>
          <a:prstGeom prst="rect">
            <a:avLst/>
          </a:prstGeom>
          <a:noFill/>
          <a:ln/>
        </p:spPr>
        <p:txBody>
          <a:bodyPr wrap="square" lIns="0" tIns="0" rIns="0" bIns="0" rtlCol="0" anchor="ctr"/>
          <a:lstStyle/>
          <a:p>
            <a:pPr algn="ctr" indent="0" marL="0">
              <a:buNone/>
            </a:pPr>
            <a:r>
              <a:rPr lang="en-US" sz="1500" b="1" dirty="0">
                <a:solidFill>
                  <a:schemeClr val="accent4"/>
                </a:solidFill>
              </a:rPr>
              <a:t>Cold storage (grows)</a:t>
            </a:r>
            <a:endParaRPr lang="en-US" sz="1500" dirty="0"/>
          </a:p>
        </p:txBody>
      </p:sp>
      <p:sp>
        <p:nvSpPr>
          <p:cNvPr id="12" name="Text 10"/>
          <p:cNvSpPr txBox="1"/>
          <p:nvPr/>
        </p:nvSpPr>
        <p:spPr>
          <a:xfrm>
            <a:off x="3017520" y="4818888"/>
            <a:ext cx="2743200" cy="758952"/>
          </a:xfrm>
          <a:prstGeom prst="rect">
            <a:avLst/>
          </a:prstGeom>
          <a:noFill/>
          <a:ln/>
        </p:spPr>
        <p:txBody>
          <a:bodyPr wrap="square" lIns="0" tIns="0" rIns="0" bIns="0" rtlCol="0" anchor="t"/>
          <a:lstStyle/>
          <a:p>
            <a:pPr algn="ctr" indent="0" marL="0">
              <a:buNone/>
            </a:pPr>
            <a:r>
              <a:rPr lang="en-US" sz="1250" dirty="0">
                <a:solidFill>
                  <a:schemeClr val="bg1"/>
                </a:solidFill>
              </a:rPr>
              <a:t>raw chunks + embeddings, reached through cell pointers</a:t>
            </a:r>
            <a:endParaRPr lang="en-US" sz="1250" dirty="0"/>
          </a:p>
        </p:txBody>
      </p:sp>
      <p:sp>
        <p:nvSpPr>
          <p:cNvPr id="13" name="rank box"/>
          <p:cNvSpPr/>
          <p:nvPr/>
        </p:nvSpPr>
        <p:spPr>
          <a:xfrm>
            <a:off x="6446520" y="1965960"/>
            <a:ext cx="1965960" cy="1463040"/>
          </a:xfrm>
          <a:prstGeom prst="roundRect">
            <a:avLst>
              <a:gd name="adj" fmla="val 6250"/>
            </a:avLst>
          </a:prstGeom>
          <a:solidFill>
            <a:schemeClr val="tx2"/>
          </a:solidFill>
          <a:ln w="19050">
            <a:solidFill>
              <a:schemeClr val="accent2"/>
            </a:solidFill>
            <a:prstDash val="solid"/>
          </a:ln>
        </p:spPr>
      </p:sp>
      <p:sp>
        <p:nvSpPr>
          <p:cNvPr id="14" name="Text 12"/>
          <p:cNvSpPr txBox="1"/>
          <p:nvPr/>
        </p:nvSpPr>
        <p:spPr>
          <a:xfrm>
            <a:off x="6583680" y="2075688"/>
            <a:ext cx="1691640" cy="347472"/>
          </a:xfrm>
          <a:prstGeom prst="rect">
            <a:avLst/>
          </a:prstGeom>
          <a:noFill/>
          <a:ln/>
        </p:spPr>
        <p:txBody>
          <a:bodyPr wrap="square" lIns="0" tIns="0" rIns="0" bIns="0" rtlCol="0" anchor="ctr"/>
          <a:lstStyle/>
          <a:p>
            <a:pPr algn="ctr" indent="0" marL="0">
              <a:buNone/>
            </a:pPr>
            <a:r>
              <a:rPr lang="en-US" sz="1500" b="1" dirty="0">
                <a:solidFill>
                  <a:schemeClr val="accent2"/>
                </a:solidFill>
              </a:rPr>
              <a:t>Rank cells</a:t>
            </a:r>
            <a:endParaRPr lang="en-US" sz="1500" dirty="0"/>
          </a:p>
        </p:txBody>
      </p:sp>
      <p:sp>
        <p:nvSpPr>
          <p:cNvPr id="15" name="Text 13"/>
          <p:cNvSpPr txBox="1"/>
          <p:nvPr/>
        </p:nvSpPr>
        <p:spPr>
          <a:xfrm>
            <a:off x="6583680" y="2441448"/>
            <a:ext cx="1691640" cy="896112"/>
          </a:xfrm>
          <a:prstGeom prst="rect">
            <a:avLst/>
          </a:prstGeom>
          <a:noFill/>
          <a:ln/>
        </p:spPr>
        <p:txBody>
          <a:bodyPr wrap="square" lIns="0" tIns="0" rIns="0" bIns="0" rtlCol="0" anchor="t"/>
          <a:lstStyle/>
          <a:p>
            <a:pPr algn="ctr" indent="0" marL="0">
              <a:buNone/>
            </a:pPr>
            <a:r>
              <a:rPr lang="en-US" sz="1250" dirty="0">
                <a:solidFill>
                  <a:schemeClr val="bg1"/>
                </a:solidFill>
              </a:rPr>
              <a:t>question embedding vs centroids and exemplars; top 4 + 1 neighbour</a:t>
            </a:r>
            <a:endParaRPr lang="en-US" sz="1250" dirty="0"/>
          </a:p>
        </p:txBody>
      </p:sp>
      <p:sp>
        <p:nvSpPr>
          <p:cNvPr id="16" name="gate box"/>
          <p:cNvSpPr/>
          <p:nvPr/>
        </p:nvSpPr>
        <p:spPr>
          <a:xfrm>
            <a:off x="8961120" y="1965960"/>
            <a:ext cx="2697480" cy="1463040"/>
          </a:xfrm>
          <a:prstGeom prst="roundRect">
            <a:avLst>
              <a:gd name="adj" fmla="val 6250"/>
            </a:avLst>
          </a:prstGeom>
          <a:solidFill>
            <a:schemeClr val="tx2"/>
          </a:solidFill>
          <a:ln w="19050">
            <a:solidFill>
              <a:schemeClr val="accent3"/>
            </a:solidFill>
            <a:prstDash val="solid"/>
          </a:ln>
        </p:spPr>
      </p:sp>
      <p:sp>
        <p:nvSpPr>
          <p:cNvPr id="17" name="Text 15"/>
          <p:cNvSpPr txBox="1"/>
          <p:nvPr/>
        </p:nvSpPr>
        <p:spPr>
          <a:xfrm>
            <a:off x="9098280" y="2075688"/>
            <a:ext cx="2423160" cy="347472"/>
          </a:xfrm>
          <a:prstGeom prst="rect">
            <a:avLst/>
          </a:prstGeom>
          <a:noFill/>
          <a:ln/>
        </p:spPr>
        <p:txBody>
          <a:bodyPr wrap="square" lIns="0" tIns="0" rIns="0" bIns="0" rtlCol="0" anchor="ctr"/>
          <a:lstStyle/>
          <a:p>
            <a:pPr algn="ctr" indent="0" marL="0">
              <a:buNone/>
            </a:pPr>
            <a:r>
              <a:rPr lang="en-US" sz="1500" b="1" dirty="0">
                <a:solidFill>
                  <a:schemeClr val="accent3"/>
                </a:solidFill>
              </a:rPr>
              <a:t>Error-bound gate</a:t>
            </a:r>
            <a:endParaRPr lang="en-US" sz="1500" dirty="0"/>
          </a:p>
        </p:txBody>
      </p:sp>
      <p:sp>
        <p:nvSpPr>
          <p:cNvPr id="18" name="Text 16"/>
          <p:cNvSpPr txBox="1"/>
          <p:nvPr/>
        </p:nvSpPr>
        <p:spPr>
          <a:xfrm>
            <a:off x="9098280" y="2441448"/>
            <a:ext cx="2423160" cy="896112"/>
          </a:xfrm>
          <a:prstGeom prst="rect">
            <a:avLst/>
          </a:prstGeom>
          <a:noFill/>
          <a:ln/>
        </p:spPr>
        <p:txBody>
          <a:bodyPr wrap="square" lIns="0" tIns="0" rIns="0" bIns="0" rtlCol="0" anchor="t"/>
          <a:lstStyle/>
          <a:p>
            <a:pPr algn="ctr" indent="0" marL="0">
              <a:buNone/>
            </a:pPr>
            <a:r>
              <a:rPr lang="en-US" sz="1250" dirty="0">
                <a:solidFill>
                  <a:schemeClr val="bg1"/>
                </a:solidFill>
              </a:rPr>
              <a:t>per cell: can the Count-Min Sketch vouch for the rare question terms?</a:t>
            </a:r>
            <a:endParaRPr lang="en-US" sz="1250" dirty="0"/>
          </a:p>
        </p:txBody>
      </p:sp>
      <p:sp>
        <p:nvSpPr>
          <p:cNvPr id="19" name="llm box"/>
          <p:cNvSpPr/>
          <p:nvPr/>
        </p:nvSpPr>
        <p:spPr>
          <a:xfrm>
            <a:off x="8961120" y="4343400"/>
            <a:ext cx="2697480" cy="1325880"/>
          </a:xfrm>
          <a:prstGeom prst="roundRect">
            <a:avLst>
              <a:gd name="adj" fmla="val 6897"/>
            </a:avLst>
          </a:prstGeom>
          <a:solidFill>
            <a:schemeClr val="tx2"/>
          </a:solidFill>
          <a:ln w="19050">
            <a:solidFill>
              <a:schemeClr val="accent1"/>
            </a:solidFill>
            <a:prstDash val="solid"/>
          </a:ln>
        </p:spPr>
      </p:sp>
      <p:sp>
        <p:nvSpPr>
          <p:cNvPr id="20" name="Text 18"/>
          <p:cNvSpPr txBox="1"/>
          <p:nvPr/>
        </p:nvSpPr>
        <p:spPr>
          <a:xfrm>
            <a:off x="9098280" y="4453128"/>
            <a:ext cx="2423160" cy="347472"/>
          </a:xfrm>
          <a:prstGeom prst="rect">
            <a:avLst/>
          </a:prstGeom>
          <a:noFill/>
          <a:ln/>
        </p:spPr>
        <p:txBody>
          <a:bodyPr wrap="square" lIns="0" tIns="0" rIns="0" bIns="0" rtlCol="0" anchor="ctr"/>
          <a:lstStyle/>
          <a:p>
            <a:pPr algn="ctr" indent="0" marL="0">
              <a:buNone/>
            </a:pPr>
            <a:r>
              <a:rPr lang="en-US" sz="1500" b="1" dirty="0">
                <a:solidFill>
                  <a:schemeClr val="accent1"/>
                </a:solidFill>
              </a:rPr>
              <a:t>LLM answers</a:t>
            </a:r>
            <a:endParaRPr lang="en-US" sz="1500" dirty="0"/>
          </a:p>
        </p:txBody>
      </p:sp>
      <p:sp>
        <p:nvSpPr>
          <p:cNvPr id="21" name="Text 19"/>
          <p:cNvSpPr txBox="1"/>
          <p:nvPr/>
        </p:nvSpPr>
        <p:spPr>
          <a:xfrm>
            <a:off x="9098280" y="4818888"/>
            <a:ext cx="2423160" cy="758952"/>
          </a:xfrm>
          <a:prstGeom prst="rect">
            <a:avLst/>
          </a:prstGeom>
          <a:noFill/>
          <a:ln/>
        </p:spPr>
        <p:txBody>
          <a:bodyPr wrap="square" lIns="0" tIns="0" rIns="0" bIns="0" rtlCol="0" anchor="t"/>
          <a:lstStyle/>
          <a:p>
            <a:pPr algn="ctr" indent="0" marL="0">
              <a:buNone/>
            </a:pPr>
            <a:r>
              <a:rPr lang="en-US" sz="1250" dirty="0">
                <a:solidFill>
                  <a:schemeClr val="bg1"/>
                </a:solidFill>
              </a:rPr>
              <a:t>one call, with digests + raw evidence for escalated cells</a:t>
            </a:r>
            <a:endParaRPr lang="en-US" sz="1250" dirty="0"/>
          </a:p>
        </p:txBody>
      </p:sp>
      <p:sp>
        <p:nvSpPr>
          <p:cNvPr id="22" name="arrow stream to hot"/>
          <p:cNvSpPr/>
          <p:nvPr/>
        </p:nvSpPr>
        <p:spPr>
          <a:xfrm>
            <a:off x="2377440" y="2697480"/>
            <a:ext cx="502920" cy="0"/>
          </a:xfrm>
          <a:prstGeom prst="line">
            <a:avLst/>
          </a:prstGeom>
          <a:noFill/>
          <a:ln w="25400">
            <a:solidFill>
              <a:schemeClr val="accent2"/>
            </a:solidFill>
            <a:prstDash val="solid"/>
            <a:tailEnd type="triangle"/>
          </a:ln>
        </p:spPr>
      </p:sp>
      <p:sp>
        <p:nvSpPr>
          <p:cNvPr id="23" name="arrow hot to cold"/>
          <p:cNvSpPr/>
          <p:nvPr/>
        </p:nvSpPr>
        <p:spPr>
          <a:xfrm>
            <a:off x="4389120" y="3794760"/>
            <a:ext cx="0" cy="548640"/>
          </a:xfrm>
          <a:prstGeom prst="line">
            <a:avLst/>
          </a:prstGeom>
          <a:noFill/>
          <a:ln w="25400">
            <a:solidFill>
              <a:schemeClr val="accent4"/>
            </a:solidFill>
            <a:prstDash val="dash"/>
            <a:tailEnd type="triangle"/>
          </a:ln>
        </p:spPr>
      </p:sp>
      <p:sp>
        <p:nvSpPr>
          <p:cNvPr id="24" name="arrow hot to rank"/>
          <p:cNvSpPr/>
          <p:nvPr/>
        </p:nvSpPr>
        <p:spPr>
          <a:xfrm>
            <a:off x="5897880" y="2697480"/>
            <a:ext cx="548640" cy="0"/>
          </a:xfrm>
          <a:prstGeom prst="line">
            <a:avLst/>
          </a:prstGeom>
          <a:noFill/>
          <a:ln w="25400">
            <a:solidFill>
              <a:schemeClr val="accent2"/>
            </a:solidFill>
            <a:prstDash val="solid"/>
            <a:tailEnd type="triangle"/>
          </a:ln>
        </p:spPr>
      </p:sp>
      <p:sp>
        <p:nvSpPr>
          <p:cNvPr id="25" name="arrow rank to gate"/>
          <p:cNvSpPr/>
          <p:nvPr/>
        </p:nvSpPr>
        <p:spPr>
          <a:xfrm>
            <a:off x="8412480" y="2697480"/>
            <a:ext cx="548640" cy="0"/>
          </a:xfrm>
          <a:prstGeom prst="line">
            <a:avLst/>
          </a:prstGeom>
          <a:noFill/>
          <a:ln w="25400">
            <a:solidFill>
              <a:schemeClr val="accent2"/>
            </a:solidFill>
            <a:prstDash val="solid"/>
            <a:tailEnd type="triangle"/>
          </a:ln>
        </p:spPr>
      </p:sp>
      <p:sp>
        <p:nvSpPr>
          <p:cNvPr id="26" name="arrow gate to llm"/>
          <p:cNvSpPr/>
          <p:nvPr/>
        </p:nvSpPr>
        <p:spPr>
          <a:xfrm>
            <a:off x="10305288" y="3429000"/>
            <a:ext cx="0" cy="914400"/>
          </a:xfrm>
          <a:prstGeom prst="line">
            <a:avLst/>
          </a:prstGeom>
          <a:noFill/>
          <a:ln w="25400">
            <a:solidFill>
              <a:schemeClr val="accent1"/>
            </a:solidFill>
            <a:prstDash val="solid"/>
            <a:tailEnd type="triangle"/>
          </a:ln>
        </p:spPr>
      </p:sp>
      <p:sp>
        <p:nvSpPr>
          <p:cNvPr id="27" name="arrow gate escalates to cold"/>
          <p:cNvSpPr/>
          <p:nvPr/>
        </p:nvSpPr>
        <p:spPr>
          <a:xfrm flipH="1">
            <a:off x="5897880" y="3291840"/>
            <a:ext cx="3063240" cy="1600200"/>
          </a:xfrm>
          <a:prstGeom prst="line">
            <a:avLst/>
          </a:prstGeom>
          <a:noFill/>
          <a:ln w="25400">
            <a:solidFill>
              <a:schemeClr val="accent4"/>
            </a:solidFill>
            <a:prstDash val="dash"/>
            <a:tailEnd type="triangle"/>
          </a:ln>
        </p:spPr>
      </p:sp>
      <p:sp>
        <p:nvSpPr>
          <p:cNvPr id="28" name="arrow cold raw to llm"/>
          <p:cNvSpPr/>
          <p:nvPr/>
        </p:nvSpPr>
        <p:spPr>
          <a:xfrm>
            <a:off x="5897880" y="5120640"/>
            <a:ext cx="3063240" cy="0"/>
          </a:xfrm>
          <a:prstGeom prst="line">
            <a:avLst/>
          </a:prstGeom>
          <a:noFill/>
          <a:ln w="25400">
            <a:solidFill>
              <a:schemeClr val="accent4"/>
            </a:solidFill>
            <a:prstDash val="dash"/>
            <a:tailEnd type="triangle"/>
          </a:ln>
        </p:spPr>
      </p:sp>
      <p:sp>
        <p:nvSpPr>
          <p:cNvPr id="29" name="Text 27"/>
          <p:cNvSpPr txBox="1"/>
          <p:nvPr/>
        </p:nvSpPr>
        <p:spPr>
          <a:xfrm>
            <a:off x="10378440" y="3749040"/>
            <a:ext cx="1463040" cy="274320"/>
          </a:xfrm>
          <a:prstGeom prst="rect">
            <a:avLst/>
          </a:prstGeom>
          <a:noFill/>
          <a:ln/>
        </p:spPr>
        <p:txBody>
          <a:bodyPr wrap="square" lIns="0" tIns="0" rIns="0" bIns="0" rtlCol="0" anchor="ctr"/>
          <a:lstStyle/>
          <a:p>
            <a:pPr indent="0" marL="0">
              <a:buNone/>
            </a:pPr>
            <a:r>
              <a:rPr lang="en-US" sz="1100" dirty="0">
                <a:solidFill>
                  <a:schemeClr val="accent1"/>
                </a:solidFill>
              </a:rPr>
              <a:t>trusted → digest</a:t>
            </a:r>
            <a:endParaRPr lang="en-US" sz="1100" dirty="0"/>
          </a:p>
        </p:txBody>
      </p:sp>
      <p:sp>
        <p:nvSpPr>
          <p:cNvPr id="30" name="Text 28"/>
          <p:cNvSpPr txBox="1"/>
          <p:nvPr/>
        </p:nvSpPr>
        <p:spPr>
          <a:xfrm>
            <a:off x="7086600" y="4617720"/>
            <a:ext cx="1828800" cy="274320"/>
          </a:xfrm>
          <a:prstGeom prst="rect">
            <a:avLst/>
          </a:prstGeom>
          <a:noFill/>
          <a:ln/>
        </p:spPr>
        <p:txBody>
          <a:bodyPr wrap="square" lIns="0" tIns="0" rIns="0" bIns="0" rtlCol="0" anchor="ctr"/>
          <a:lstStyle/>
          <a:p>
            <a:pPr indent="0" marL="0">
              <a:buNone/>
            </a:pPr>
            <a:r>
              <a:rPr lang="en-US" sz="1100" dirty="0">
                <a:solidFill>
                  <a:schemeClr val="accent4"/>
                </a:solidFill>
              </a:rPr>
              <a:t>escalate → read raw chunks</a:t>
            </a:r>
            <a:endParaRPr lang="en-US" sz="1100" dirty="0"/>
          </a:p>
        </p:txBody>
      </p:sp>
      <p:sp>
        <p:nvSpPr>
          <p:cNvPr id="31" name="Text 29"/>
          <p:cNvSpPr txBox="1"/>
          <p:nvPr/>
        </p:nvSpPr>
        <p:spPr>
          <a:xfrm>
            <a:off x="548640" y="5897880"/>
            <a:ext cx="10972800" cy="274320"/>
          </a:xfrm>
          <a:prstGeom prst="rect">
            <a:avLst/>
          </a:prstGeom>
          <a:noFill/>
          <a:ln/>
        </p:spPr>
        <p:txBody>
          <a:bodyPr wrap="square" lIns="0" tIns="0" rIns="0" bIns="0" rtlCol="0" anchor="ctr"/>
          <a:lstStyle/>
          <a:p>
            <a:pPr indent="0" marL="0">
              <a:buNone/>
            </a:pPr>
            <a:r>
              <a:rPr lang="en-US" sz="1200" dirty="0">
                <a:solidFill>
                  <a:schemeClr val="bg2"/>
                </a:solidFill>
              </a:rPr>
              <a:t>Single pass over the stream; ingest costs 2–26 ms per chunk on CPU.</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ONE MEMORY CELL</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A cell is a compact box for one topic in the stream</a:t>
            </a:r>
            <a:endParaRPr lang="en-US" sz="3400" dirty="0"/>
          </a:p>
        </p:txBody>
      </p:sp>
      <p:sp>
        <p:nvSpPr>
          <p:cNvPr id="4" name="cell part 1"/>
          <p:cNvSpPr/>
          <p:nvPr/>
        </p:nvSpPr>
        <p:spPr>
          <a:xfrm>
            <a:off x="548640" y="1737360"/>
            <a:ext cx="3429000" cy="1188720"/>
          </a:xfrm>
          <a:prstGeom prst="roundRect">
            <a:avLst>
              <a:gd name="adj" fmla="val 9231"/>
            </a:avLst>
          </a:prstGeom>
          <a:solidFill>
            <a:schemeClr val="tx2"/>
          </a:solidFill>
          <a:ln w="9525">
            <a:solidFill>
              <a:schemeClr val="accent6"/>
            </a:solidFill>
            <a:prstDash val="solid"/>
          </a:ln>
        </p:spPr>
      </p:sp>
      <p:sp>
        <p:nvSpPr>
          <p:cNvPr id="5" name="cell part 1 circle"/>
          <p:cNvSpPr/>
          <p:nvPr/>
        </p:nvSpPr>
        <p:spPr>
          <a:xfrm>
            <a:off x="777240" y="2011680"/>
            <a:ext cx="640080" cy="640080"/>
          </a:xfrm>
          <a:prstGeom prst="ellipse">
            <a:avLst/>
          </a:prstGeom>
          <a:solidFill>
            <a:schemeClr val="accent2">
              <a:alpha val="18000"/>
            </a:schemeClr>
          </a:solidFill>
          <a:ln/>
        </p:spPr>
      </p:sp>
      <p:pic>
        <p:nvPicPr>
          <p:cNvPr id="6" name="cell part 1 icon" descr="preencoded.png">    </p:cNvPr>
          <p:cNvPicPr>
            <a:picLocks noChangeAspect="1"/>
          </p:cNvPicPr>
          <p:nvPr/>
        </p:nvPicPr>
        <p:blipFill>
          <a:blip r:embed="rId1"/>
          <a:stretch>
            <a:fillRect/>
          </a:stretch>
        </p:blipFill>
        <p:spPr>
          <a:xfrm>
            <a:off x="937260" y="2171700"/>
            <a:ext cx="320040" cy="320040"/>
          </a:xfrm>
          <a:prstGeom prst="rect">
            <a:avLst/>
          </a:prstGeom>
        </p:spPr>
      </p:pic>
      <p:sp>
        <p:nvSpPr>
          <p:cNvPr id="7" name="Text 4"/>
          <p:cNvSpPr txBox="1"/>
          <p:nvPr/>
        </p:nvSpPr>
        <p:spPr>
          <a:xfrm>
            <a:off x="1554480" y="1938528"/>
            <a:ext cx="2286000" cy="365760"/>
          </a:xfrm>
          <a:prstGeom prst="rect">
            <a:avLst/>
          </a:prstGeom>
          <a:noFill/>
          <a:ln/>
        </p:spPr>
        <p:txBody>
          <a:bodyPr wrap="square" lIns="0" tIns="0" rIns="0" bIns="0" rtlCol="0" anchor="ctr"/>
          <a:lstStyle/>
          <a:p>
            <a:pPr indent="0" marL="0">
              <a:buNone/>
            </a:pPr>
            <a:r>
              <a:rPr lang="en-US" sz="1500" b="1" dirty="0">
                <a:solidFill>
                  <a:schemeClr val="accent2"/>
                </a:solidFill>
              </a:rPr>
              <a:t>Centroid + 8 exemplars</a:t>
            </a:r>
            <a:endParaRPr lang="en-US" sz="1500" dirty="0"/>
          </a:p>
        </p:txBody>
      </p:sp>
      <p:sp>
        <p:nvSpPr>
          <p:cNvPr id="8" name="Text 5"/>
          <p:cNvSpPr txBox="1"/>
          <p:nvPr/>
        </p:nvSpPr>
        <p:spPr>
          <a:xfrm>
            <a:off x="1554480" y="2304288"/>
            <a:ext cx="2286000" cy="502920"/>
          </a:xfrm>
          <a:prstGeom prst="rect">
            <a:avLst/>
          </a:prstGeom>
          <a:noFill/>
          <a:ln/>
        </p:spPr>
        <p:txBody>
          <a:bodyPr wrap="square" lIns="0" tIns="0" rIns="0" bIns="0" rtlCol="0" anchor="t"/>
          <a:lstStyle/>
          <a:p>
            <a:pPr indent="0" marL="0">
              <a:buNone/>
            </a:pPr>
            <a:r>
              <a:rPr lang="en-US" sz="1250" dirty="0">
                <a:solidFill>
                  <a:schemeClr val="bg1"/>
                </a:solidFill>
              </a:rPr>
              <a:t>where the topic sits in embedding space</a:t>
            </a:r>
            <a:endParaRPr lang="en-US" sz="1250" dirty="0"/>
          </a:p>
        </p:txBody>
      </p:sp>
      <p:sp>
        <p:nvSpPr>
          <p:cNvPr id="9" name="cell part 2"/>
          <p:cNvSpPr/>
          <p:nvPr/>
        </p:nvSpPr>
        <p:spPr>
          <a:xfrm>
            <a:off x="4206240" y="1737360"/>
            <a:ext cx="3429000" cy="1188720"/>
          </a:xfrm>
          <a:prstGeom prst="roundRect">
            <a:avLst>
              <a:gd name="adj" fmla="val 9231"/>
            </a:avLst>
          </a:prstGeom>
          <a:solidFill>
            <a:schemeClr val="tx2"/>
          </a:solidFill>
          <a:ln w="9525">
            <a:solidFill>
              <a:schemeClr val="accent6"/>
            </a:solidFill>
            <a:prstDash val="solid"/>
          </a:ln>
        </p:spPr>
      </p:sp>
      <p:sp>
        <p:nvSpPr>
          <p:cNvPr id="10" name="cell part 2 circle"/>
          <p:cNvSpPr/>
          <p:nvPr/>
        </p:nvSpPr>
        <p:spPr>
          <a:xfrm>
            <a:off x="4434840" y="2011680"/>
            <a:ext cx="640080" cy="640080"/>
          </a:xfrm>
          <a:prstGeom prst="ellipse">
            <a:avLst/>
          </a:prstGeom>
          <a:solidFill>
            <a:schemeClr val="accent3">
              <a:alpha val="18000"/>
            </a:schemeClr>
          </a:solidFill>
          <a:ln/>
        </p:spPr>
      </p:sp>
      <p:pic>
        <p:nvPicPr>
          <p:cNvPr id="11" name="cell part 2 icon" descr="preencoded.png">    </p:cNvPr>
          <p:cNvPicPr>
            <a:picLocks noChangeAspect="1"/>
          </p:cNvPicPr>
          <p:nvPr/>
        </p:nvPicPr>
        <p:blipFill>
          <a:blip r:embed="rId2"/>
          <a:stretch>
            <a:fillRect/>
          </a:stretch>
        </p:blipFill>
        <p:spPr>
          <a:xfrm>
            <a:off x="4594860" y="2171700"/>
            <a:ext cx="320040" cy="320040"/>
          </a:xfrm>
          <a:prstGeom prst="rect">
            <a:avLst/>
          </a:prstGeom>
        </p:spPr>
      </p:pic>
      <p:sp>
        <p:nvSpPr>
          <p:cNvPr id="12" name="Text 8"/>
          <p:cNvSpPr txBox="1"/>
          <p:nvPr/>
        </p:nvSpPr>
        <p:spPr>
          <a:xfrm>
            <a:off x="5212080" y="1938528"/>
            <a:ext cx="2286000" cy="365760"/>
          </a:xfrm>
          <a:prstGeom prst="rect">
            <a:avLst/>
          </a:prstGeom>
          <a:noFill/>
          <a:ln/>
        </p:spPr>
        <p:txBody>
          <a:bodyPr wrap="square" lIns="0" tIns="0" rIns="0" bIns="0" rtlCol="0" anchor="ctr"/>
          <a:lstStyle/>
          <a:p>
            <a:pPr indent="0" marL="0">
              <a:buNone/>
            </a:pPr>
            <a:r>
              <a:rPr lang="en-US" sz="1500" b="1" dirty="0">
                <a:solidFill>
                  <a:schemeClr val="accent3"/>
                </a:solidFill>
              </a:rPr>
              <a:t>Count-Min Sketch 3 × 512</a:t>
            </a:r>
            <a:endParaRPr lang="en-US" sz="1500" dirty="0"/>
          </a:p>
        </p:txBody>
      </p:sp>
      <p:sp>
        <p:nvSpPr>
          <p:cNvPr id="13" name="Text 9"/>
          <p:cNvSpPr txBox="1"/>
          <p:nvPr/>
        </p:nvSpPr>
        <p:spPr>
          <a:xfrm>
            <a:off x="5212080" y="2304288"/>
            <a:ext cx="2286000" cy="502920"/>
          </a:xfrm>
          <a:prstGeom prst="rect">
            <a:avLst/>
          </a:prstGeom>
          <a:noFill/>
          <a:ln/>
        </p:spPr>
        <p:txBody>
          <a:bodyPr wrap="square" lIns="0" tIns="0" rIns="0" bIns="0" rtlCol="0" anchor="t"/>
          <a:lstStyle/>
          <a:p>
            <a:pPr indent="0" marL="0">
              <a:buNone/>
            </a:pPr>
            <a:r>
              <a:rPr lang="en-US" sz="1250" dirty="0">
                <a:solidFill>
                  <a:schemeClr val="bg1"/>
                </a:solidFill>
              </a:rPr>
              <a:t>how often every word occurs in the cell</a:t>
            </a:r>
            <a:endParaRPr lang="en-US" sz="1250" dirty="0"/>
          </a:p>
        </p:txBody>
      </p:sp>
      <p:sp>
        <p:nvSpPr>
          <p:cNvPr id="14" name="cell part 3"/>
          <p:cNvSpPr/>
          <p:nvPr/>
        </p:nvSpPr>
        <p:spPr>
          <a:xfrm>
            <a:off x="548640" y="3108960"/>
            <a:ext cx="3429000" cy="1188720"/>
          </a:xfrm>
          <a:prstGeom prst="roundRect">
            <a:avLst>
              <a:gd name="adj" fmla="val 9231"/>
            </a:avLst>
          </a:prstGeom>
          <a:solidFill>
            <a:schemeClr val="tx2"/>
          </a:solidFill>
          <a:ln w="9525">
            <a:solidFill>
              <a:schemeClr val="accent6"/>
            </a:solidFill>
            <a:prstDash val="solid"/>
          </a:ln>
        </p:spPr>
      </p:sp>
      <p:sp>
        <p:nvSpPr>
          <p:cNvPr id="15" name="cell part 3 circle"/>
          <p:cNvSpPr/>
          <p:nvPr/>
        </p:nvSpPr>
        <p:spPr>
          <a:xfrm>
            <a:off x="777240" y="3383280"/>
            <a:ext cx="640080" cy="640080"/>
          </a:xfrm>
          <a:prstGeom prst="ellipse">
            <a:avLst/>
          </a:prstGeom>
          <a:solidFill>
            <a:schemeClr val="accent4">
              <a:alpha val="18000"/>
            </a:schemeClr>
          </a:solidFill>
          <a:ln/>
        </p:spPr>
      </p:sp>
      <p:pic>
        <p:nvPicPr>
          <p:cNvPr id="16" name="cell part 3 icon" descr="preencoded.png">    </p:cNvPr>
          <p:cNvPicPr>
            <a:picLocks noChangeAspect="1"/>
          </p:cNvPicPr>
          <p:nvPr/>
        </p:nvPicPr>
        <p:blipFill>
          <a:blip r:embed="rId3"/>
          <a:stretch>
            <a:fillRect/>
          </a:stretch>
        </p:blipFill>
        <p:spPr>
          <a:xfrm>
            <a:off x="937260" y="3543300"/>
            <a:ext cx="320040" cy="320040"/>
          </a:xfrm>
          <a:prstGeom prst="rect">
            <a:avLst/>
          </a:prstGeom>
        </p:spPr>
      </p:pic>
      <p:sp>
        <p:nvSpPr>
          <p:cNvPr id="17" name="Text 12"/>
          <p:cNvSpPr txBox="1"/>
          <p:nvPr/>
        </p:nvSpPr>
        <p:spPr>
          <a:xfrm>
            <a:off x="1554480" y="3310128"/>
            <a:ext cx="2286000" cy="365760"/>
          </a:xfrm>
          <a:prstGeom prst="rect">
            <a:avLst/>
          </a:prstGeom>
          <a:noFill/>
          <a:ln/>
        </p:spPr>
        <p:txBody>
          <a:bodyPr wrap="square" lIns="0" tIns="0" rIns="0" bIns="0" rtlCol="0" anchor="ctr"/>
          <a:lstStyle/>
          <a:p>
            <a:pPr indent="0" marL="0">
              <a:buNone/>
            </a:pPr>
            <a:r>
              <a:rPr lang="en-US" sz="1500" b="1" dirty="0">
                <a:solidFill>
                  <a:schemeClr val="accent4"/>
                </a:solidFill>
              </a:rPr>
              <a:t>Digest ≤ 120 words</a:t>
            </a:r>
            <a:endParaRPr lang="en-US" sz="1500" dirty="0"/>
          </a:p>
        </p:txBody>
      </p:sp>
      <p:sp>
        <p:nvSpPr>
          <p:cNvPr id="18" name="Text 13"/>
          <p:cNvSpPr txBox="1"/>
          <p:nvPr/>
        </p:nvSpPr>
        <p:spPr>
          <a:xfrm>
            <a:off x="1554480" y="3675888"/>
            <a:ext cx="2286000" cy="502920"/>
          </a:xfrm>
          <a:prstGeom prst="rect">
            <a:avLst/>
          </a:prstGeom>
          <a:noFill/>
          <a:ln/>
        </p:spPr>
        <p:txBody>
          <a:bodyPr wrap="square" lIns="0" tIns="0" rIns="0" bIns="0" rtlCol="0" anchor="t"/>
          <a:lstStyle/>
          <a:p>
            <a:pPr indent="0" marL="0">
              <a:buNone/>
            </a:pPr>
            <a:r>
              <a:rPr lang="en-US" sz="1250" dirty="0">
                <a:solidFill>
                  <a:schemeClr val="bg1"/>
                </a:solidFill>
              </a:rPr>
              <a:t>the most informative sentences, read by the LLM</a:t>
            </a:r>
            <a:endParaRPr lang="en-US" sz="1250" dirty="0"/>
          </a:p>
        </p:txBody>
      </p:sp>
      <p:sp>
        <p:nvSpPr>
          <p:cNvPr id="19" name="cell part 4"/>
          <p:cNvSpPr/>
          <p:nvPr/>
        </p:nvSpPr>
        <p:spPr>
          <a:xfrm>
            <a:off x="4206240" y="3108960"/>
            <a:ext cx="3429000" cy="1188720"/>
          </a:xfrm>
          <a:prstGeom prst="roundRect">
            <a:avLst>
              <a:gd name="adj" fmla="val 9231"/>
            </a:avLst>
          </a:prstGeom>
          <a:solidFill>
            <a:schemeClr val="tx2"/>
          </a:solidFill>
          <a:ln w="9525">
            <a:solidFill>
              <a:schemeClr val="accent6"/>
            </a:solidFill>
            <a:prstDash val="solid"/>
          </a:ln>
        </p:spPr>
      </p:sp>
      <p:sp>
        <p:nvSpPr>
          <p:cNvPr id="20" name="cell part 4 circle"/>
          <p:cNvSpPr/>
          <p:nvPr/>
        </p:nvSpPr>
        <p:spPr>
          <a:xfrm>
            <a:off x="4434840" y="3383280"/>
            <a:ext cx="640080" cy="640080"/>
          </a:xfrm>
          <a:prstGeom prst="ellipse">
            <a:avLst/>
          </a:prstGeom>
          <a:solidFill>
            <a:schemeClr val="accent1">
              <a:alpha val="18000"/>
            </a:schemeClr>
          </a:solidFill>
          <a:ln/>
        </p:spPr>
      </p:sp>
      <p:pic>
        <p:nvPicPr>
          <p:cNvPr id="21" name="cell part 4 icon" descr="preencoded.png">    </p:cNvPr>
          <p:cNvPicPr>
            <a:picLocks noChangeAspect="1"/>
          </p:cNvPicPr>
          <p:nvPr/>
        </p:nvPicPr>
        <p:blipFill>
          <a:blip r:embed="rId4"/>
          <a:stretch>
            <a:fillRect/>
          </a:stretch>
        </p:blipFill>
        <p:spPr>
          <a:xfrm>
            <a:off x="4594860" y="3543300"/>
            <a:ext cx="320040" cy="320040"/>
          </a:xfrm>
          <a:prstGeom prst="rect">
            <a:avLst/>
          </a:prstGeom>
        </p:spPr>
      </p:pic>
      <p:sp>
        <p:nvSpPr>
          <p:cNvPr id="22" name="Text 16"/>
          <p:cNvSpPr txBox="1"/>
          <p:nvPr/>
        </p:nvSpPr>
        <p:spPr>
          <a:xfrm>
            <a:off x="5212080" y="3310128"/>
            <a:ext cx="2286000" cy="365760"/>
          </a:xfrm>
          <a:prstGeom prst="rect">
            <a:avLst/>
          </a:prstGeom>
          <a:noFill/>
          <a:ln/>
        </p:spPr>
        <p:txBody>
          <a:bodyPr wrap="square" lIns="0" tIns="0" rIns="0" bIns="0" rtlCol="0" anchor="ctr"/>
          <a:lstStyle/>
          <a:p>
            <a:pPr indent="0" marL="0">
              <a:buNone/>
            </a:pPr>
            <a:r>
              <a:rPr lang="en-US" sz="1500" b="1" dirty="0">
                <a:solidFill>
                  <a:schemeClr val="accent1"/>
                </a:solidFill>
              </a:rPr>
              <a:t>Span + radius</a:t>
            </a:r>
            <a:endParaRPr lang="en-US" sz="1500" dirty="0"/>
          </a:p>
        </p:txBody>
      </p:sp>
      <p:sp>
        <p:nvSpPr>
          <p:cNvPr id="23" name="Text 17"/>
          <p:cNvSpPr txBox="1"/>
          <p:nvPr/>
        </p:nvSpPr>
        <p:spPr>
          <a:xfrm>
            <a:off x="5212080" y="3675888"/>
            <a:ext cx="2286000" cy="502920"/>
          </a:xfrm>
          <a:prstGeom prst="rect">
            <a:avLst/>
          </a:prstGeom>
          <a:noFill/>
          <a:ln/>
        </p:spPr>
        <p:txBody>
          <a:bodyPr wrap="square" lIns="0" tIns="0" rIns="0" bIns="0" rtlCol="0" anchor="t"/>
          <a:lstStyle/>
          <a:p>
            <a:pPr indent="0" marL="0">
              <a:buNone/>
            </a:pPr>
            <a:r>
              <a:rPr lang="en-US" sz="1250" dirty="0">
                <a:solidFill>
                  <a:schemeClr val="bg1"/>
                </a:solidFill>
              </a:rPr>
              <a:t>where in the stream; how spread out (loose &gt; 0.75)</a:t>
            </a:r>
            <a:endParaRPr lang="en-US" sz="1250" dirty="0"/>
          </a:p>
        </p:txBody>
      </p:sp>
      <p:sp>
        <p:nvSpPr>
          <p:cNvPr id="24" name="cell part 5"/>
          <p:cNvSpPr/>
          <p:nvPr/>
        </p:nvSpPr>
        <p:spPr>
          <a:xfrm>
            <a:off x="548640" y="4480560"/>
            <a:ext cx="3429000" cy="1188720"/>
          </a:xfrm>
          <a:prstGeom prst="roundRect">
            <a:avLst>
              <a:gd name="adj" fmla="val 9231"/>
            </a:avLst>
          </a:prstGeom>
          <a:solidFill>
            <a:schemeClr val="tx2"/>
          </a:solidFill>
          <a:ln w="9525">
            <a:solidFill>
              <a:schemeClr val="accent6"/>
            </a:solidFill>
            <a:prstDash val="solid"/>
          </a:ln>
        </p:spPr>
      </p:sp>
      <p:sp>
        <p:nvSpPr>
          <p:cNvPr id="25" name="cell part 5 circle"/>
          <p:cNvSpPr/>
          <p:nvPr/>
        </p:nvSpPr>
        <p:spPr>
          <a:xfrm>
            <a:off x="777240" y="4754880"/>
            <a:ext cx="640080" cy="640080"/>
          </a:xfrm>
          <a:prstGeom prst="ellipse">
            <a:avLst/>
          </a:prstGeom>
          <a:solidFill>
            <a:schemeClr val="accent4">
              <a:alpha val="18000"/>
            </a:schemeClr>
          </a:solidFill>
          <a:ln/>
        </p:spPr>
      </p:sp>
      <p:pic>
        <p:nvPicPr>
          <p:cNvPr id="26" name="cell part 5 icon" descr="preencoded.png">    </p:cNvPr>
          <p:cNvPicPr>
            <a:picLocks noChangeAspect="1"/>
          </p:cNvPicPr>
          <p:nvPr/>
        </p:nvPicPr>
        <p:blipFill>
          <a:blip r:embed="rId5"/>
          <a:stretch>
            <a:fillRect/>
          </a:stretch>
        </p:blipFill>
        <p:spPr>
          <a:xfrm>
            <a:off x="937260" y="4914900"/>
            <a:ext cx="320040" cy="320040"/>
          </a:xfrm>
          <a:prstGeom prst="rect">
            <a:avLst/>
          </a:prstGeom>
        </p:spPr>
      </p:pic>
      <p:sp>
        <p:nvSpPr>
          <p:cNvPr id="27" name="Text 20"/>
          <p:cNvSpPr txBox="1"/>
          <p:nvPr/>
        </p:nvSpPr>
        <p:spPr>
          <a:xfrm>
            <a:off x="1554480" y="4681728"/>
            <a:ext cx="2286000" cy="365760"/>
          </a:xfrm>
          <a:prstGeom prst="rect">
            <a:avLst/>
          </a:prstGeom>
          <a:noFill/>
          <a:ln/>
        </p:spPr>
        <p:txBody>
          <a:bodyPr wrap="square" lIns="0" tIns="0" rIns="0" bIns="0" rtlCol="0" anchor="ctr"/>
          <a:lstStyle/>
          <a:p>
            <a:pPr indent="0" marL="0">
              <a:buNone/>
            </a:pPr>
            <a:r>
              <a:rPr lang="en-US" sz="1500" b="1" dirty="0">
                <a:solidFill>
                  <a:schemeClr val="accent4"/>
                </a:solidFill>
              </a:rPr>
              <a:t>Raw-chunk pointers</a:t>
            </a:r>
            <a:endParaRPr lang="en-US" sz="1500" dirty="0"/>
          </a:p>
        </p:txBody>
      </p:sp>
      <p:sp>
        <p:nvSpPr>
          <p:cNvPr id="28" name="Text 21"/>
          <p:cNvSpPr txBox="1"/>
          <p:nvPr/>
        </p:nvSpPr>
        <p:spPr>
          <a:xfrm>
            <a:off x="1554480" y="5047488"/>
            <a:ext cx="2286000" cy="502920"/>
          </a:xfrm>
          <a:prstGeom prst="rect">
            <a:avLst/>
          </a:prstGeom>
          <a:noFill/>
          <a:ln/>
        </p:spPr>
        <p:txBody>
          <a:bodyPr wrap="square" lIns="0" tIns="0" rIns="0" bIns="0" rtlCol="0" anchor="t"/>
          <a:lstStyle/>
          <a:p>
            <a:pPr indent="0" marL="0">
              <a:buNone/>
            </a:pPr>
            <a:r>
              <a:rPr lang="en-US" sz="1250" dirty="0">
                <a:solidFill>
                  <a:schemeClr val="bg1"/>
                </a:solidFill>
              </a:rPr>
              <a:t>the way back to the original text in cold storage</a:t>
            </a:r>
            <a:endParaRPr lang="en-US" sz="1250" dirty="0"/>
          </a:p>
        </p:txBody>
      </p:sp>
      <p:sp>
        <p:nvSpPr>
          <p:cNvPr id="29" name="cell part 6"/>
          <p:cNvSpPr/>
          <p:nvPr/>
        </p:nvSpPr>
        <p:spPr>
          <a:xfrm>
            <a:off x="4206240" y="4480560"/>
            <a:ext cx="3429000" cy="1188720"/>
          </a:xfrm>
          <a:prstGeom prst="roundRect">
            <a:avLst>
              <a:gd name="adj" fmla="val 9231"/>
            </a:avLst>
          </a:prstGeom>
          <a:solidFill>
            <a:schemeClr val="tx2"/>
          </a:solidFill>
          <a:ln w="9525">
            <a:solidFill>
              <a:schemeClr val="accent6"/>
            </a:solidFill>
            <a:prstDash val="solid"/>
          </a:ln>
        </p:spPr>
      </p:sp>
      <p:sp>
        <p:nvSpPr>
          <p:cNvPr id="30" name="cell part 6 circle"/>
          <p:cNvSpPr/>
          <p:nvPr/>
        </p:nvSpPr>
        <p:spPr>
          <a:xfrm>
            <a:off x="4434840" y="4754880"/>
            <a:ext cx="640080" cy="640080"/>
          </a:xfrm>
          <a:prstGeom prst="ellipse">
            <a:avLst/>
          </a:prstGeom>
          <a:solidFill>
            <a:schemeClr val="accent5">
              <a:alpha val="18000"/>
            </a:schemeClr>
          </a:solidFill>
          <a:ln/>
        </p:spPr>
      </p:sp>
      <p:pic>
        <p:nvPicPr>
          <p:cNvPr id="31" name="cell part 6 icon" descr="preencoded.png">    </p:cNvPr>
          <p:cNvPicPr>
            <a:picLocks noChangeAspect="1"/>
          </p:cNvPicPr>
          <p:nvPr/>
        </p:nvPicPr>
        <p:blipFill>
          <a:blip r:embed="rId6"/>
          <a:stretch>
            <a:fillRect/>
          </a:stretch>
        </p:blipFill>
        <p:spPr>
          <a:xfrm>
            <a:off x="4594860" y="4914900"/>
            <a:ext cx="320040" cy="320040"/>
          </a:xfrm>
          <a:prstGeom prst="rect">
            <a:avLst/>
          </a:prstGeom>
        </p:spPr>
      </p:pic>
      <p:sp>
        <p:nvSpPr>
          <p:cNvPr id="32" name="Text 24"/>
          <p:cNvSpPr txBox="1"/>
          <p:nvPr/>
        </p:nvSpPr>
        <p:spPr>
          <a:xfrm>
            <a:off x="5212080" y="4681728"/>
            <a:ext cx="2286000" cy="365760"/>
          </a:xfrm>
          <a:prstGeom prst="rect">
            <a:avLst/>
          </a:prstGeom>
          <a:noFill/>
          <a:ln/>
        </p:spPr>
        <p:txBody>
          <a:bodyPr wrap="square" lIns="0" tIns="0" rIns="0" bIns="0" rtlCol="0" anchor="ctr"/>
          <a:lstStyle/>
          <a:p>
            <a:pPr indent="0" marL="0">
              <a:buNone/>
            </a:pPr>
            <a:r>
              <a:rPr lang="en-US" sz="1500" b="1" dirty="0">
                <a:solidFill>
                  <a:schemeClr val="accent5"/>
                </a:solidFill>
              </a:rPr>
              <a:t>Merge when full</a:t>
            </a:r>
            <a:endParaRPr lang="en-US" sz="1500" dirty="0"/>
          </a:p>
        </p:txBody>
      </p:sp>
      <p:sp>
        <p:nvSpPr>
          <p:cNvPr id="33" name="Text 25"/>
          <p:cNvSpPr txBox="1"/>
          <p:nvPr/>
        </p:nvSpPr>
        <p:spPr>
          <a:xfrm>
            <a:off x="5212080" y="5047488"/>
            <a:ext cx="2286000" cy="502920"/>
          </a:xfrm>
          <a:prstGeom prst="rect">
            <a:avLst/>
          </a:prstGeom>
          <a:noFill/>
          <a:ln/>
        </p:spPr>
        <p:txBody>
          <a:bodyPr wrap="square" lIns="0" tIns="0" rIns="0" bIns="0" rtlCol="0" anchor="t"/>
          <a:lstStyle/>
          <a:p>
            <a:pPr indent="0" marL="0">
              <a:buNone/>
            </a:pPr>
            <a:r>
              <a:rPr lang="en-US" sz="1250" dirty="0">
                <a:solidFill>
                  <a:schemeClr val="bg1"/>
                </a:solidFill>
              </a:rPr>
              <a:t>over budget: merge the two closest cells (Ward)</a:t>
            </a:r>
            <a:endParaRPr lang="en-US" sz="1250" dirty="0"/>
          </a:p>
        </p:txBody>
      </p:sp>
      <p:sp>
        <p:nvSpPr>
          <p:cNvPr id="34" name="cell size card"/>
          <p:cNvSpPr/>
          <p:nvPr/>
        </p:nvSpPr>
        <p:spPr>
          <a:xfrm>
            <a:off x="8092440" y="1737360"/>
            <a:ext cx="3520440" cy="3931920"/>
          </a:xfrm>
          <a:prstGeom prst="roundRect">
            <a:avLst>
              <a:gd name="adj" fmla="val 3117"/>
            </a:avLst>
          </a:prstGeom>
          <a:solidFill>
            <a:schemeClr val="tx2"/>
          </a:solidFill>
          <a:ln w="9525">
            <a:solidFill>
              <a:schemeClr val="accent6"/>
            </a:solidFill>
            <a:prstDash val="solid"/>
          </a:ln>
        </p:spPr>
      </p:sp>
      <p:sp>
        <p:nvSpPr>
          <p:cNvPr id="35" name="Text 27"/>
          <p:cNvSpPr txBox="1"/>
          <p:nvPr/>
        </p:nvSpPr>
        <p:spPr>
          <a:xfrm>
            <a:off x="8412480" y="2057400"/>
            <a:ext cx="2926080" cy="822960"/>
          </a:xfrm>
          <a:prstGeom prst="rect">
            <a:avLst/>
          </a:prstGeom>
          <a:noFill/>
          <a:ln/>
        </p:spPr>
        <p:txBody>
          <a:bodyPr wrap="square" lIns="0" tIns="0" rIns="0" bIns="0" rtlCol="0" anchor="ctr"/>
          <a:lstStyle/>
          <a:p>
            <a:pPr indent="0" marL="0">
              <a:buNone/>
            </a:pPr>
            <a:r>
              <a:rPr lang="en-US" sz="5200" b="1" dirty="0">
                <a:solidFill>
                  <a:schemeClr val="accent1"/>
                </a:solidFill>
              </a:rPr>
              <a:t>≈ 14 KB</a:t>
            </a:r>
            <a:endParaRPr lang="en-US" sz="5200" dirty="0"/>
          </a:p>
        </p:txBody>
      </p:sp>
      <p:sp>
        <p:nvSpPr>
          <p:cNvPr id="36" name="Text 28"/>
          <p:cNvSpPr txBox="1"/>
          <p:nvPr/>
        </p:nvSpPr>
        <p:spPr>
          <a:xfrm>
            <a:off x="8412480" y="2880360"/>
            <a:ext cx="2926080" cy="365760"/>
          </a:xfrm>
          <a:prstGeom prst="rect">
            <a:avLst/>
          </a:prstGeom>
          <a:noFill/>
          <a:ln/>
        </p:spPr>
        <p:txBody>
          <a:bodyPr wrap="square" lIns="0" tIns="0" rIns="0" bIns="0" rtlCol="0" anchor="ctr"/>
          <a:lstStyle/>
          <a:p>
            <a:pPr indent="0" marL="0">
              <a:buNone/>
            </a:pPr>
            <a:r>
              <a:rPr lang="en-US" sz="1400" dirty="0">
                <a:solidFill>
                  <a:schemeClr val="bg2"/>
                </a:solidFill>
              </a:rPr>
              <a:t>per cell, mostly sketch and exemplars</a:t>
            </a:r>
            <a:endParaRPr lang="en-US" sz="1400" dirty="0"/>
          </a:p>
        </p:txBody>
      </p:sp>
      <p:sp>
        <p:nvSpPr>
          <p:cNvPr id="37" name="Text 29"/>
          <p:cNvSpPr txBox="1"/>
          <p:nvPr/>
        </p:nvSpPr>
        <p:spPr>
          <a:xfrm>
            <a:off x="8412480" y="3429000"/>
            <a:ext cx="2926080" cy="2011680"/>
          </a:xfrm>
          <a:prstGeom prst="rect">
            <a:avLst/>
          </a:prstGeom>
          <a:noFill/>
          <a:ln/>
        </p:spPr>
        <p:txBody>
          <a:bodyPr wrap="square" lIns="0" tIns="0" rIns="0" bIns="0" rtlCol="0" anchor="t"/>
          <a:lstStyle/>
          <a:p>
            <a:pPr indent="0" marL="0">
              <a:buNone/>
            </a:pPr>
            <a:r>
              <a:rPr lang="en-US" sz="1600" b="1" dirty="0">
                <a:solidFill>
                  <a:schemeClr val="accent1"/>
                </a:solidFill>
              </a:rPr>
              <a:t>1.0 MB</a:t>
            </a:r>
            <a:endParaRPr lang="en-US" sz="1600" dirty="0"/>
          </a:p>
          <a:p>
            <a:pPr indent="0" marL="0">
              <a:buNone/>
            </a:pPr>
            <a:r>
              <a:rPr lang="en-US" sz="1600" dirty="0">
                <a:solidFill>
                  <a:schemeClr val="bg1"/>
                </a:solidFill>
              </a:rPr>
              <a:t>hot memory with 64 cells after 8.5M words</a:t>
            </a:r>
            <a:endParaRPr lang="en-US" sz="1600" dirty="0"/>
          </a:p>
          <a:p>
            <a:pPr indent="0" marL="0">
              <a:buNone/>
            </a:pPr>
            <a:r>
              <a:rPr lang="en-US" sz="800" dirty="0">
                <a:solidFill>
                  <a:schemeClr val="bg1"/>
                </a:solidFill>
              </a:rPr>
              <a:t> </a:t>
            </a:r>
            <a:endParaRPr lang="en-US" sz="1600" dirty="0"/>
          </a:p>
          <a:p>
            <a:pPr indent="0" marL="0">
              <a:buNone/>
            </a:pPr>
            <a:r>
              <a:rPr lang="en-US" sz="1600" b="1" dirty="0">
                <a:solidFill>
                  <a:schemeClr val="accent1"/>
                </a:solidFill>
              </a:rPr>
              <a:t>3.7 MB</a:t>
            </a:r>
            <a:endParaRPr lang="en-US" sz="1600" dirty="0"/>
          </a:p>
          <a:p>
            <a:pPr indent="0" marL="0">
              <a:buNone/>
            </a:pPr>
            <a:r>
              <a:rPr lang="en-US" sz="1600" dirty="0">
                <a:solidFill>
                  <a:schemeClr val="bg1"/>
                </a:solidFill>
              </a:rPr>
              <a:t>with 256 cells</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THE ERROR-BOUND GATE</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Read raw text only where the sketch can't vouch for it</a:t>
            </a:r>
            <a:endParaRPr lang="en-US" sz="3400" dirty="0"/>
          </a:p>
        </p:txBody>
      </p:sp>
      <p:sp>
        <p:nvSpPr>
          <p:cNvPr id="4" name="gate rule 1"/>
          <p:cNvSpPr/>
          <p:nvPr/>
        </p:nvSpPr>
        <p:spPr>
          <a:xfrm>
            <a:off x="548640" y="1691640"/>
            <a:ext cx="6675120" cy="1143000"/>
          </a:xfrm>
          <a:prstGeom prst="roundRect">
            <a:avLst>
              <a:gd name="adj" fmla="val 9600"/>
            </a:avLst>
          </a:prstGeom>
          <a:solidFill>
            <a:schemeClr val="tx2"/>
          </a:solidFill>
          <a:ln w="9525">
            <a:solidFill>
              <a:schemeClr val="accent6"/>
            </a:solidFill>
            <a:prstDash val="solid"/>
          </a:ln>
        </p:spPr>
      </p:sp>
      <p:sp>
        <p:nvSpPr>
          <p:cNvPr id="5" name="Text 3"/>
          <p:cNvSpPr txBox="1"/>
          <p:nvPr/>
        </p:nvSpPr>
        <p:spPr>
          <a:xfrm>
            <a:off x="868680" y="1856232"/>
            <a:ext cx="1828800" cy="365760"/>
          </a:xfrm>
          <a:prstGeom prst="rect">
            <a:avLst/>
          </a:prstGeom>
          <a:noFill/>
          <a:ln/>
        </p:spPr>
        <p:txBody>
          <a:bodyPr wrap="square" lIns="0" tIns="0" rIns="0" bIns="0" rtlCol="0" anchor="ctr"/>
          <a:lstStyle/>
          <a:p>
            <a:pPr indent="0" marL="0">
              <a:buNone/>
            </a:pPr>
            <a:r>
              <a:rPr lang="en-US" sz="2000" b="1" dirty="0">
                <a:solidFill>
                  <a:schemeClr val="accent4"/>
                </a:solidFill>
              </a:rPr>
              <a:t>Lossy</a:t>
            </a:r>
            <a:endParaRPr lang="en-US" sz="2000" dirty="0"/>
          </a:p>
        </p:txBody>
      </p:sp>
      <p:sp>
        <p:nvSpPr>
          <p:cNvPr id="6" name="Text 4"/>
          <p:cNvSpPr txBox="1"/>
          <p:nvPr/>
        </p:nvSpPr>
        <p:spPr>
          <a:xfrm>
            <a:off x="2606040" y="1856232"/>
            <a:ext cx="4434840" cy="868680"/>
          </a:xfrm>
          <a:prstGeom prst="rect">
            <a:avLst/>
          </a:prstGeom>
          <a:noFill/>
          <a:ln/>
        </p:spPr>
        <p:txBody>
          <a:bodyPr wrap="square" lIns="0" tIns="0" rIns="0" bIns="0" rtlCol="0" anchor="t"/>
          <a:lstStyle/>
          <a:p>
            <a:pPr indent="0" marL="0">
              <a:buNone/>
            </a:pPr>
            <a:r>
              <a:rPr lang="en-US" sz="1400" dirty="0">
                <a:solidFill>
                  <a:schemeClr val="bg1"/>
                </a:solidFill>
              </a:rPr>
              <a:t>A rare query term is in the cell (Count-Min above its noise floor) but missing from the digest: the summary dropped the fact.</a:t>
            </a:r>
            <a:endParaRPr lang="en-US" sz="1400" dirty="0"/>
          </a:p>
        </p:txBody>
      </p:sp>
      <p:sp>
        <p:nvSpPr>
          <p:cNvPr id="7" name="gate rule 2"/>
          <p:cNvSpPr/>
          <p:nvPr/>
        </p:nvSpPr>
        <p:spPr>
          <a:xfrm>
            <a:off x="548640" y="3017520"/>
            <a:ext cx="6675120" cy="1143000"/>
          </a:xfrm>
          <a:prstGeom prst="roundRect">
            <a:avLst>
              <a:gd name="adj" fmla="val 9600"/>
            </a:avLst>
          </a:prstGeom>
          <a:solidFill>
            <a:schemeClr val="tx2"/>
          </a:solidFill>
          <a:ln w="9525">
            <a:solidFill>
              <a:schemeClr val="accent6"/>
            </a:solidFill>
            <a:prstDash val="solid"/>
          </a:ln>
        </p:spPr>
      </p:sp>
      <p:sp>
        <p:nvSpPr>
          <p:cNvPr id="8" name="Text 6"/>
          <p:cNvSpPr txBox="1"/>
          <p:nvPr/>
        </p:nvSpPr>
        <p:spPr>
          <a:xfrm>
            <a:off x="868680" y="3182112"/>
            <a:ext cx="1828800" cy="365760"/>
          </a:xfrm>
          <a:prstGeom prst="rect">
            <a:avLst/>
          </a:prstGeom>
          <a:noFill/>
          <a:ln/>
        </p:spPr>
        <p:txBody>
          <a:bodyPr wrap="square" lIns="0" tIns="0" rIns="0" bIns="0" rtlCol="0" anchor="ctr"/>
          <a:lstStyle/>
          <a:p>
            <a:pPr indent="0" marL="0">
              <a:buNone/>
            </a:pPr>
            <a:r>
              <a:rPr lang="en-US" sz="2000" b="1" dirty="0">
                <a:solidFill>
                  <a:schemeClr val="accent3"/>
                </a:solidFill>
              </a:rPr>
              <a:t>Unresolved</a:t>
            </a:r>
            <a:endParaRPr lang="en-US" sz="2000" dirty="0"/>
          </a:p>
        </p:txBody>
      </p:sp>
      <p:sp>
        <p:nvSpPr>
          <p:cNvPr id="9" name="Text 7"/>
          <p:cNvSpPr txBox="1"/>
          <p:nvPr/>
        </p:nvSpPr>
        <p:spPr>
          <a:xfrm>
            <a:off x="2606040" y="3182112"/>
            <a:ext cx="4434840" cy="868680"/>
          </a:xfrm>
          <a:prstGeom prst="rect">
            <a:avLst/>
          </a:prstGeom>
          <a:noFill/>
          <a:ln/>
        </p:spPr>
        <p:txBody>
          <a:bodyPr wrap="square" lIns="0" tIns="0" rIns="0" bIns="0" rtlCol="0" anchor="t"/>
          <a:lstStyle/>
          <a:p>
            <a:pPr indent="0" marL="0">
              <a:buNone/>
            </a:pPr>
            <a:r>
              <a:rPr lang="en-US" sz="1400" dirty="0">
                <a:solidFill>
                  <a:schemeClr val="bg1"/>
                </a:solidFill>
              </a:rPr>
              <a:t>No retrieved cell holds the rare terms above the guaranteed εN bound: the sketch cannot locate them, so read the top two cells raw.</a:t>
            </a:r>
            <a:endParaRPr lang="en-US" sz="1400" dirty="0"/>
          </a:p>
        </p:txBody>
      </p:sp>
      <p:sp>
        <p:nvSpPr>
          <p:cNvPr id="10" name="gate rule 3"/>
          <p:cNvSpPr/>
          <p:nvPr/>
        </p:nvSpPr>
        <p:spPr>
          <a:xfrm>
            <a:off x="548640" y="4343400"/>
            <a:ext cx="6675120" cy="1143000"/>
          </a:xfrm>
          <a:prstGeom prst="roundRect">
            <a:avLst>
              <a:gd name="adj" fmla="val 9600"/>
            </a:avLst>
          </a:prstGeom>
          <a:solidFill>
            <a:schemeClr val="tx2"/>
          </a:solidFill>
          <a:ln w="9525">
            <a:solidFill>
              <a:schemeClr val="accent6"/>
            </a:solidFill>
            <a:prstDash val="solid"/>
          </a:ln>
        </p:spPr>
      </p:sp>
      <p:sp>
        <p:nvSpPr>
          <p:cNvPr id="11" name="Text 9"/>
          <p:cNvSpPr txBox="1"/>
          <p:nvPr/>
        </p:nvSpPr>
        <p:spPr>
          <a:xfrm>
            <a:off x="868680" y="4507992"/>
            <a:ext cx="1828800" cy="365760"/>
          </a:xfrm>
          <a:prstGeom prst="rect">
            <a:avLst/>
          </a:prstGeom>
          <a:noFill/>
          <a:ln/>
        </p:spPr>
        <p:txBody>
          <a:bodyPr wrap="square" lIns="0" tIns="0" rIns="0" bIns="0" rtlCol="0" anchor="ctr"/>
          <a:lstStyle/>
          <a:p>
            <a:pPr indent="0" marL="0">
              <a:buNone/>
            </a:pPr>
            <a:r>
              <a:rPr lang="en-US" sz="2000" b="1" dirty="0">
                <a:solidFill>
                  <a:schemeClr val="accent2"/>
                </a:solidFill>
              </a:rPr>
              <a:t>Loose</a:t>
            </a:r>
            <a:endParaRPr lang="en-US" sz="2000" dirty="0"/>
          </a:p>
        </p:txBody>
      </p:sp>
      <p:sp>
        <p:nvSpPr>
          <p:cNvPr id="12" name="Text 10"/>
          <p:cNvSpPr txBox="1"/>
          <p:nvPr/>
        </p:nvSpPr>
        <p:spPr>
          <a:xfrm>
            <a:off x="2606040" y="4507992"/>
            <a:ext cx="4434840" cy="868680"/>
          </a:xfrm>
          <a:prstGeom prst="rect">
            <a:avLst/>
          </a:prstGeom>
          <a:noFill/>
          <a:ln/>
        </p:spPr>
        <p:txBody>
          <a:bodyPr wrap="square" lIns="0" tIns="0" rIns="0" bIns="0" rtlCol="0" anchor="t"/>
          <a:lstStyle/>
          <a:p>
            <a:pPr indent="0" marL="0">
              <a:buNone/>
            </a:pPr>
            <a:r>
              <a:rPr lang="en-US" sz="1400" dirty="0">
                <a:solidFill>
                  <a:schemeClr val="bg1"/>
                </a:solidFill>
              </a:rPr>
              <a:t>The cell's radius is above 0.75: it mixes too much for its digest to be faithful.</a:t>
            </a:r>
            <a:endParaRPr lang="en-US" sz="1400" dirty="0"/>
          </a:p>
        </p:txBody>
      </p:sp>
      <p:sp>
        <p:nvSpPr>
          <p:cNvPr id="13" name="Text 11"/>
          <p:cNvSpPr txBox="1"/>
          <p:nvPr/>
        </p:nvSpPr>
        <p:spPr>
          <a:xfrm>
            <a:off x="548640" y="5715000"/>
            <a:ext cx="6675120" cy="320040"/>
          </a:xfrm>
          <a:prstGeom prst="rect">
            <a:avLst/>
          </a:prstGeom>
          <a:noFill/>
          <a:ln/>
        </p:spPr>
        <p:txBody>
          <a:bodyPr wrap="square" lIns="0" tIns="0" rIns="0" bIns="0" rtlCol="0" anchor="ctr"/>
          <a:lstStyle/>
          <a:p>
            <a:pPr indent="0" marL="0">
              <a:buNone/>
            </a:pPr>
            <a:r>
              <a:rPr lang="en-US" sz="1300" dirty="0">
                <a:solidFill>
                  <a:schemeClr val="bg2"/>
                </a:solidFill>
              </a:rPr>
              <a:t>Questions with no rare terms (summaries) are answered from the digests.</a:t>
            </a:r>
            <a:endParaRPr lang="en-US" sz="1300" dirty="0"/>
          </a:p>
        </p:txBody>
      </p:sp>
      <p:sp>
        <p:nvSpPr>
          <p:cNvPr id="14" name="kv example card"/>
          <p:cNvSpPr/>
          <p:nvPr/>
        </p:nvSpPr>
        <p:spPr>
          <a:xfrm>
            <a:off x="7680960" y="1691640"/>
            <a:ext cx="3931920" cy="3794760"/>
          </a:xfrm>
          <a:prstGeom prst="roundRect">
            <a:avLst>
              <a:gd name="adj" fmla="val 2892"/>
            </a:avLst>
          </a:prstGeom>
          <a:solidFill>
            <a:schemeClr val="tx2"/>
          </a:solidFill>
          <a:ln w="9525">
            <a:solidFill>
              <a:schemeClr val="accent6"/>
            </a:solidFill>
            <a:prstDash val="solid"/>
          </a:ln>
        </p:spPr>
      </p:sp>
      <p:sp>
        <p:nvSpPr>
          <p:cNvPr id="15" name="kv example circle"/>
          <p:cNvSpPr/>
          <p:nvPr/>
        </p:nvSpPr>
        <p:spPr>
          <a:xfrm>
            <a:off x="8001000" y="1965960"/>
            <a:ext cx="640080" cy="640080"/>
          </a:xfrm>
          <a:prstGeom prst="ellipse">
            <a:avLst/>
          </a:prstGeom>
          <a:solidFill>
            <a:schemeClr val="accent3">
              <a:alpha val="18000"/>
            </a:schemeClr>
          </a:solidFill>
          <a:ln/>
        </p:spPr>
      </p:sp>
      <p:pic>
        <p:nvPicPr>
          <p:cNvPr id="16" name="kv example icon" descr="preencoded.png">    </p:cNvPr>
          <p:cNvPicPr>
            <a:picLocks noChangeAspect="1"/>
          </p:cNvPicPr>
          <p:nvPr/>
        </p:nvPicPr>
        <p:blipFill>
          <a:blip r:embed="rId1"/>
          <a:stretch>
            <a:fillRect/>
          </a:stretch>
        </p:blipFill>
        <p:spPr>
          <a:xfrm>
            <a:off x="8161020" y="2125980"/>
            <a:ext cx="320040" cy="320040"/>
          </a:xfrm>
          <a:prstGeom prst="rect">
            <a:avLst/>
          </a:prstGeom>
        </p:spPr>
      </p:pic>
      <p:sp>
        <p:nvSpPr>
          <p:cNvPr id="17" name="Text 14"/>
          <p:cNvSpPr txBox="1"/>
          <p:nvPr/>
        </p:nvSpPr>
        <p:spPr>
          <a:xfrm>
            <a:off x="8778240" y="2057400"/>
            <a:ext cx="2743200" cy="457200"/>
          </a:xfrm>
          <a:prstGeom prst="rect">
            <a:avLst/>
          </a:prstGeom>
          <a:noFill/>
          <a:ln/>
        </p:spPr>
        <p:txBody>
          <a:bodyPr wrap="square" lIns="0" tIns="0" rIns="0" bIns="0" rtlCol="0" anchor="ctr"/>
          <a:lstStyle/>
          <a:p>
            <a:pPr indent="0" marL="0">
              <a:buNone/>
            </a:pPr>
            <a:r>
              <a:rPr lang="en-US" sz="1500" b="1" dirty="0">
                <a:solidFill>
                  <a:schemeClr val="bg1"/>
                </a:solidFill>
              </a:rPr>
              <a:t>Exact-key lookup (∞-Bench KV)</a:t>
            </a:r>
            <a:endParaRPr lang="en-US" sz="1500" dirty="0"/>
          </a:p>
        </p:txBody>
      </p:sp>
      <p:sp>
        <p:nvSpPr>
          <p:cNvPr id="18" name="Text 15"/>
          <p:cNvSpPr txBox="1"/>
          <p:nvPr/>
        </p:nvSpPr>
        <p:spPr>
          <a:xfrm>
            <a:off x="8001000" y="2834640"/>
            <a:ext cx="3474720" cy="914400"/>
          </a:xfrm>
          <a:prstGeom prst="rect">
            <a:avLst/>
          </a:prstGeom>
          <a:noFill/>
          <a:ln/>
        </p:spPr>
        <p:txBody>
          <a:bodyPr wrap="square" lIns="0" tIns="0" rIns="0" bIns="0" rtlCol="0" anchor="ctr"/>
          <a:lstStyle/>
          <a:p>
            <a:pPr indent="0" marL="0">
              <a:buNone/>
            </a:pPr>
            <a:r>
              <a:rPr lang="en-US" sz="4600" b="1" dirty="0">
                <a:solidFill>
                  <a:schemeClr val="bg2"/>
                </a:solidFill>
              </a:rPr>
              <a:t>6.7</a:t>
            </a:r>
            <a:pPr indent="0" marL="0">
              <a:buNone/>
            </a:pPr>
            <a:r>
              <a:rPr lang="en-US" sz="3000" dirty="0">
                <a:solidFill>
                  <a:schemeClr val="bg2"/>
                </a:solidFill>
              </a:rPr>
              <a:t>  →  </a:t>
            </a:r>
            <a:pPr indent="0" marL="0">
              <a:buNone/>
            </a:pPr>
            <a:r>
              <a:rPr lang="en-US" sz="4600" b="1" dirty="0">
                <a:solidFill>
                  <a:schemeClr val="accent1"/>
                </a:solidFill>
              </a:rPr>
              <a:t>96.7</a:t>
            </a:r>
            <a:endParaRPr lang="en-US" sz="1500" dirty="0"/>
          </a:p>
        </p:txBody>
      </p:sp>
      <p:sp>
        <p:nvSpPr>
          <p:cNvPr id="19" name="Text 16"/>
          <p:cNvSpPr txBox="1"/>
          <p:nvPr/>
        </p:nvSpPr>
        <p:spPr>
          <a:xfrm>
            <a:off x="8001000" y="3840480"/>
            <a:ext cx="3337560" cy="1371600"/>
          </a:xfrm>
          <a:prstGeom prst="rect">
            <a:avLst/>
          </a:prstGeom>
          <a:noFill/>
          <a:ln/>
        </p:spPr>
        <p:txBody>
          <a:bodyPr wrap="square" lIns="0" tIns="0" rIns="0" bIns="0" rtlCol="0" anchor="t"/>
          <a:lstStyle/>
          <a:p>
            <a:pPr indent="0" marL="0">
              <a:buNone/>
            </a:pPr>
            <a:r>
              <a:rPr lang="en-US" sz="1350" dirty="0">
                <a:solidFill>
                  <a:schemeClr val="bg1"/>
                </a:solidFill>
              </a:rPr>
              <a:t>score with digest only → with the gate. A UUID key never survives summarisation; the sketch knows it cannot vouch for it.</a:t>
            </a:r>
            <a:endParaRPr lang="en-US" sz="13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EXPERIMENTAL SETUP</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One model, one prompt; only the context changes</a:t>
            </a:r>
            <a:endParaRPr lang="en-US" sz="3400" dirty="0"/>
          </a:p>
        </p:txBody>
      </p:sp>
      <p:sp>
        <p:nvSpPr>
          <p:cNvPr id="4" name="setup card 1"/>
          <p:cNvSpPr/>
          <p:nvPr/>
        </p:nvSpPr>
        <p:spPr>
          <a:xfrm>
            <a:off x="548640" y="1783080"/>
            <a:ext cx="5440680" cy="1828800"/>
          </a:xfrm>
          <a:prstGeom prst="roundRect">
            <a:avLst>
              <a:gd name="adj" fmla="val 6000"/>
            </a:avLst>
          </a:prstGeom>
          <a:solidFill>
            <a:schemeClr val="tx2"/>
          </a:solidFill>
          <a:ln w="9525">
            <a:solidFill>
              <a:schemeClr val="accent6"/>
            </a:solidFill>
            <a:prstDash val="solid"/>
          </a:ln>
        </p:spPr>
      </p:sp>
      <p:sp>
        <p:nvSpPr>
          <p:cNvPr id="5" name="setup 1 circle"/>
          <p:cNvSpPr/>
          <p:nvPr/>
        </p:nvSpPr>
        <p:spPr>
          <a:xfrm>
            <a:off x="822960" y="2103120"/>
            <a:ext cx="731520" cy="731520"/>
          </a:xfrm>
          <a:prstGeom prst="ellipse">
            <a:avLst/>
          </a:prstGeom>
          <a:solidFill>
            <a:schemeClr val="accent1">
              <a:alpha val="18000"/>
            </a:schemeClr>
          </a:solidFill>
          <a:ln/>
        </p:spPr>
      </p:sp>
      <p:pic>
        <p:nvPicPr>
          <p:cNvPr id="6" name="setup 1 icon" descr="preencoded.png">    </p:cNvPr>
          <p:cNvPicPr>
            <a:picLocks noChangeAspect="1"/>
          </p:cNvPicPr>
          <p:nvPr/>
        </p:nvPicPr>
        <p:blipFill>
          <a:blip r:embed="rId1"/>
          <a:stretch>
            <a:fillRect/>
          </a:stretch>
        </p:blipFill>
        <p:spPr>
          <a:xfrm>
            <a:off x="1005840" y="2286000"/>
            <a:ext cx="365760" cy="365760"/>
          </a:xfrm>
          <a:prstGeom prst="rect">
            <a:avLst/>
          </a:prstGeom>
        </p:spPr>
      </p:pic>
      <p:sp>
        <p:nvSpPr>
          <p:cNvPr id="7" name="Text 4"/>
          <p:cNvSpPr txBox="1"/>
          <p:nvPr/>
        </p:nvSpPr>
        <p:spPr>
          <a:xfrm>
            <a:off x="1783080" y="2103120"/>
            <a:ext cx="4023360" cy="411480"/>
          </a:xfrm>
          <a:prstGeom prst="rect">
            <a:avLst/>
          </a:prstGeom>
          <a:noFill/>
          <a:ln/>
        </p:spPr>
        <p:txBody>
          <a:bodyPr wrap="square" lIns="0" tIns="0" rIns="0" bIns="0" rtlCol="0" anchor="ctr"/>
          <a:lstStyle/>
          <a:p>
            <a:pPr indent="0" marL="0">
              <a:buNone/>
            </a:pPr>
            <a:r>
              <a:rPr lang="en-US" sz="2000" b="1" dirty="0">
                <a:solidFill>
                  <a:schemeClr val="bg1"/>
                </a:solidFill>
              </a:rPr>
              <a:t>350 test questions</a:t>
            </a:r>
            <a:endParaRPr lang="en-US" sz="2000" dirty="0"/>
          </a:p>
        </p:txBody>
      </p:sp>
      <p:sp>
        <p:nvSpPr>
          <p:cNvPr id="8" name="Text 5"/>
          <p:cNvSpPr txBox="1"/>
          <p:nvPr/>
        </p:nvSpPr>
        <p:spPr>
          <a:xfrm>
            <a:off x="1783080" y="2560320"/>
            <a:ext cx="4023360" cy="914400"/>
          </a:xfrm>
          <a:prstGeom prst="rect">
            <a:avLst/>
          </a:prstGeom>
          <a:noFill/>
          <a:ln/>
        </p:spPr>
        <p:txBody>
          <a:bodyPr wrap="square" lIns="0" tIns="0" rIns="0" bIns="0" rtlCol="0" anchor="t"/>
          <a:lstStyle/>
          <a:p>
            <a:pPr indent="0" marL="0">
              <a:buNone/>
            </a:pPr>
            <a:r>
              <a:rPr lang="en-US" sz="1400" dirty="0">
                <a:solidFill>
                  <a:schemeClr val="bg2"/>
                </a:solidFill>
              </a:rPr>
              <a:t>12 tasks: 9 from LongBench (single- and multi-doc QA, summaries, passage retrieval) and 3 from ∞-Bench (PassKey, KV, En.QA)</a:t>
            </a:r>
            <a:endParaRPr lang="en-US" sz="1400" dirty="0"/>
          </a:p>
        </p:txBody>
      </p:sp>
      <p:sp>
        <p:nvSpPr>
          <p:cNvPr id="9" name="setup card 2"/>
          <p:cNvSpPr/>
          <p:nvPr/>
        </p:nvSpPr>
        <p:spPr>
          <a:xfrm>
            <a:off x="6172200" y="1783080"/>
            <a:ext cx="5440680" cy="1828800"/>
          </a:xfrm>
          <a:prstGeom prst="roundRect">
            <a:avLst>
              <a:gd name="adj" fmla="val 6000"/>
            </a:avLst>
          </a:prstGeom>
          <a:solidFill>
            <a:schemeClr val="tx2"/>
          </a:solidFill>
          <a:ln w="9525">
            <a:solidFill>
              <a:schemeClr val="accent6"/>
            </a:solidFill>
            <a:prstDash val="solid"/>
          </a:ln>
        </p:spPr>
      </p:sp>
      <p:sp>
        <p:nvSpPr>
          <p:cNvPr id="10" name="setup 2 circle"/>
          <p:cNvSpPr/>
          <p:nvPr/>
        </p:nvSpPr>
        <p:spPr>
          <a:xfrm>
            <a:off x="6446520" y="2103120"/>
            <a:ext cx="731520" cy="731520"/>
          </a:xfrm>
          <a:prstGeom prst="ellipse">
            <a:avLst/>
          </a:prstGeom>
          <a:solidFill>
            <a:schemeClr val="accent1">
              <a:alpha val="18000"/>
            </a:schemeClr>
          </a:solidFill>
          <a:ln/>
        </p:spPr>
      </p:sp>
      <p:pic>
        <p:nvPicPr>
          <p:cNvPr id="11" name="setup 2 icon" descr="preencoded.png">    </p:cNvPr>
          <p:cNvPicPr>
            <a:picLocks noChangeAspect="1"/>
          </p:cNvPicPr>
          <p:nvPr/>
        </p:nvPicPr>
        <p:blipFill>
          <a:blip r:embed="rId2"/>
          <a:stretch>
            <a:fillRect/>
          </a:stretch>
        </p:blipFill>
        <p:spPr>
          <a:xfrm>
            <a:off x="6629400" y="2286000"/>
            <a:ext cx="365760" cy="365760"/>
          </a:xfrm>
          <a:prstGeom prst="rect">
            <a:avLst/>
          </a:prstGeom>
        </p:spPr>
      </p:pic>
      <p:sp>
        <p:nvSpPr>
          <p:cNvPr id="12" name="Text 8"/>
          <p:cNvSpPr txBox="1"/>
          <p:nvPr/>
        </p:nvSpPr>
        <p:spPr>
          <a:xfrm>
            <a:off x="7406640" y="2103120"/>
            <a:ext cx="4023360" cy="411480"/>
          </a:xfrm>
          <a:prstGeom prst="rect">
            <a:avLst/>
          </a:prstGeom>
          <a:noFill/>
          <a:ln/>
        </p:spPr>
        <p:txBody>
          <a:bodyPr wrap="square" lIns="0" tIns="0" rIns="0" bIns="0" rtlCol="0" anchor="ctr"/>
          <a:lstStyle/>
          <a:p>
            <a:pPr indent="0" marL="0">
              <a:buNone/>
            </a:pPr>
            <a:r>
              <a:rPr lang="en-US" sz="2000" b="1" dirty="0">
                <a:solidFill>
                  <a:schemeClr val="bg1"/>
                </a:solidFill>
              </a:rPr>
              <a:t>qwen2.5:7b-instruct</a:t>
            </a:r>
            <a:endParaRPr lang="en-US" sz="2000" dirty="0"/>
          </a:p>
        </p:txBody>
      </p:sp>
      <p:sp>
        <p:nvSpPr>
          <p:cNvPr id="13" name="Text 9"/>
          <p:cNvSpPr txBox="1"/>
          <p:nvPr/>
        </p:nvSpPr>
        <p:spPr>
          <a:xfrm>
            <a:off x="7406640" y="2560320"/>
            <a:ext cx="4023360" cy="914400"/>
          </a:xfrm>
          <a:prstGeom prst="rect">
            <a:avLst/>
          </a:prstGeom>
          <a:noFill/>
          <a:ln/>
        </p:spPr>
        <p:txBody>
          <a:bodyPr wrap="square" lIns="0" tIns="0" rIns="0" bIns="0" rtlCol="0" anchor="t"/>
          <a:lstStyle/>
          <a:p>
            <a:pPr indent="0" marL="0">
              <a:buNone/>
            </a:pPr>
            <a:r>
              <a:rPr lang="en-US" sz="1400" dirty="0">
                <a:solidFill>
                  <a:schemeClr val="bg2"/>
                </a:solidFill>
              </a:rPr>
              <a:t>through Ollama on Kaggle GPUs; greedy decoding, fixed seed, same prompt for every system</a:t>
            </a:r>
            <a:endParaRPr lang="en-US" sz="1400" dirty="0"/>
          </a:p>
        </p:txBody>
      </p:sp>
      <p:sp>
        <p:nvSpPr>
          <p:cNvPr id="14" name="setup card 3"/>
          <p:cNvSpPr/>
          <p:nvPr/>
        </p:nvSpPr>
        <p:spPr>
          <a:xfrm>
            <a:off x="548640" y="3840480"/>
            <a:ext cx="5440680" cy="1828800"/>
          </a:xfrm>
          <a:prstGeom prst="roundRect">
            <a:avLst>
              <a:gd name="adj" fmla="val 6000"/>
            </a:avLst>
          </a:prstGeom>
          <a:solidFill>
            <a:schemeClr val="tx2"/>
          </a:solidFill>
          <a:ln w="9525">
            <a:solidFill>
              <a:schemeClr val="accent6"/>
            </a:solidFill>
            <a:prstDash val="solid"/>
          </a:ln>
        </p:spPr>
      </p:sp>
      <p:sp>
        <p:nvSpPr>
          <p:cNvPr id="15" name="setup 3 circle"/>
          <p:cNvSpPr/>
          <p:nvPr/>
        </p:nvSpPr>
        <p:spPr>
          <a:xfrm>
            <a:off x="822960" y="4160520"/>
            <a:ext cx="731520" cy="731520"/>
          </a:xfrm>
          <a:prstGeom prst="ellipse">
            <a:avLst/>
          </a:prstGeom>
          <a:solidFill>
            <a:schemeClr val="accent1">
              <a:alpha val="18000"/>
            </a:schemeClr>
          </a:solidFill>
          <a:ln/>
        </p:spPr>
      </p:sp>
      <p:pic>
        <p:nvPicPr>
          <p:cNvPr id="16" name="setup 3 icon" descr="preencoded.png">    </p:cNvPr>
          <p:cNvPicPr>
            <a:picLocks noChangeAspect="1"/>
          </p:cNvPicPr>
          <p:nvPr/>
        </p:nvPicPr>
        <p:blipFill>
          <a:blip r:embed="rId3"/>
          <a:stretch>
            <a:fillRect/>
          </a:stretch>
        </p:blipFill>
        <p:spPr>
          <a:xfrm>
            <a:off x="1005840" y="4343400"/>
            <a:ext cx="365760" cy="365760"/>
          </a:xfrm>
          <a:prstGeom prst="rect">
            <a:avLst/>
          </a:prstGeom>
        </p:spPr>
      </p:pic>
      <p:sp>
        <p:nvSpPr>
          <p:cNvPr id="17" name="Text 12"/>
          <p:cNvSpPr txBox="1"/>
          <p:nvPr/>
        </p:nvSpPr>
        <p:spPr>
          <a:xfrm>
            <a:off x="1783080" y="4160520"/>
            <a:ext cx="4023360" cy="411480"/>
          </a:xfrm>
          <a:prstGeom prst="rect">
            <a:avLst/>
          </a:prstGeom>
          <a:noFill/>
          <a:ln/>
        </p:spPr>
        <p:txBody>
          <a:bodyPr wrap="square" lIns="0" tIns="0" rIns="0" bIns="0" rtlCol="0" anchor="ctr"/>
          <a:lstStyle/>
          <a:p>
            <a:pPr indent="0" marL="0">
              <a:buNone/>
            </a:pPr>
            <a:r>
              <a:rPr lang="en-US" sz="2000" b="1" dirty="0">
                <a:solidFill>
                  <a:schemeClr val="bg1"/>
                </a:solidFill>
              </a:rPr>
              <a:t>9 compared systems</a:t>
            </a:r>
            <a:endParaRPr lang="en-US" sz="2000" dirty="0"/>
          </a:p>
        </p:txBody>
      </p:sp>
      <p:sp>
        <p:nvSpPr>
          <p:cNvPr id="18" name="Text 13"/>
          <p:cNvSpPr txBox="1"/>
          <p:nvPr/>
        </p:nvSpPr>
        <p:spPr>
          <a:xfrm>
            <a:off x="1783080" y="4617720"/>
            <a:ext cx="4023360" cy="914400"/>
          </a:xfrm>
          <a:prstGeom prst="rect">
            <a:avLst/>
          </a:prstGeom>
          <a:noFill/>
          <a:ln/>
        </p:spPr>
        <p:txBody>
          <a:bodyPr wrap="square" lIns="0" tIns="0" rIns="0" bIns="0" rtlCol="0" anchor="t"/>
          <a:lstStyle/>
          <a:p>
            <a:pPr indent="0" marL="0">
              <a:buNone/>
            </a:pPr>
            <a:r>
              <a:rPr lang="en-US" sz="1400" dirty="0">
                <a:solidFill>
                  <a:schemeClr val="bg2"/>
                </a:solidFill>
              </a:rPr>
              <a:t>full context, BM25 RAG, dense RAG, SARA-lite, AMBER-lite, SketchRAG digest only / always raw / LLM agent / gate + agent</a:t>
            </a:r>
            <a:endParaRPr lang="en-US" sz="1400" dirty="0"/>
          </a:p>
        </p:txBody>
      </p:sp>
      <p:sp>
        <p:nvSpPr>
          <p:cNvPr id="19" name="setup card 4"/>
          <p:cNvSpPr/>
          <p:nvPr/>
        </p:nvSpPr>
        <p:spPr>
          <a:xfrm>
            <a:off x="6172200" y="3840480"/>
            <a:ext cx="5440680" cy="1828800"/>
          </a:xfrm>
          <a:prstGeom prst="roundRect">
            <a:avLst>
              <a:gd name="adj" fmla="val 6000"/>
            </a:avLst>
          </a:prstGeom>
          <a:solidFill>
            <a:schemeClr val="tx2"/>
          </a:solidFill>
          <a:ln w="9525">
            <a:solidFill>
              <a:schemeClr val="accent6"/>
            </a:solidFill>
            <a:prstDash val="solid"/>
          </a:ln>
        </p:spPr>
      </p:sp>
      <p:sp>
        <p:nvSpPr>
          <p:cNvPr id="20" name="setup 4 circle"/>
          <p:cNvSpPr/>
          <p:nvPr/>
        </p:nvSpPr>
        <p:spPr>
          <a:xfrm>
            <a:off x="6446520" y="4160520"/>
            <a:ext cx="731520" cy="731520"/>
          </a:xfrm>
          <a:prstGeom prst="ellipse">
            <a:avLst/>
          </a:prstGeom>
          <a:solidFill>
            <a:schemeClr val="accent1">
              <a:alpha val="18000"/>
            </a:schemeClr>
          </a:solidFill>
          <a:ln/>
        </p:spPr>
      </p:sp>
      <p:pic>
        <p:nvPicPr>
          <p:cNvPr id="21" name="setup 4 icon" descr="preencoded.png">    </p:cNvPr>
          <p:cNvPicPr>
            <a:picLocks noChangeAspect="1"/>
          </p:cNvPicPr>
          <p:nvPr/>
        </p:nvPicPr>
        <p:blipFill>
          <a:blip r:embed="rId4"/>
          <a:stretch>
            <a:fillRect/>
          </a:stretch>
        </p:blipFill>
        <p:spPr>
          <a:xfrm>
            <a:off x="6629400" y="4343400"/>
            <a:ext cx="365760" cy="365760"/>
          </a:xfrm>
          <a:prstGeom prst="rect">
            <a:avLst/>
          </a:prstGeom>
        </p:spPr>
      </p:pic>
      <p:sp>
        <p:nvSpPr>
          <p:cNvPr id="22" name="Text 16"/>
          <p:cNvSpPr txBox="1"/>
          <p:nvPr/>
        </p:nvSpPr>
        <p:spPr>
          <a:xfrm>
            <a:off x="7406640" y="4160520"/>
            <a:ext cx="4023360" cy="411480"/>
          </a:xfrm>
          <a:prstGeom prst="rect">
            <a:avLst/>
          </a:prstGeom>
          <a:noFill/>
          <a:ln/>
        </p:spPr>
        <p:txBody>
          <a:bodyPr wrap="square" lIns="0" tIns="0" rIns="0" bIns="0" rtlCol="0" anchor="ctr"/>
          <a:lstStyle/>
          <a:p>
            <a:pPr indent="0" marL="0">
              <a:buNone/>
            </a:pPr>
            <a:r>
              <a:rPr lang="en-US" sz="2000" b="1" dirty="0">
                <a:solidFill>
                  <a:schemeClr val="bg1"/>
                </a:solidFill>
              </a:rPr>
              <a:t>Honest protocol</a:t>
            </a:r>
            <a:endParaRPr lang="en-US" sz="2000" dirty="0"/>
          </a:p>
        </p:txBody>
      </p:sp>
      <p:sp>
        <p:nvSpPr>
          <p:cNvPr id="23" name="Text 17"/>
          <p:cNvSpPr txBox="1"/>
          <p:nvPr/>
        </p:nvSpPr>
        <p:spPr>
          <a:xfrm>
            <a:off x="7406640" y="4617720"/>
            <a:ext cx="4023360" cy="914400"/>
          </a:xfrm>
          <a:prstGeom prst="rect">
            <a:avLst/>
          </a:prstGeom>
          <a:noFill/>
          <a:ln/>
        </p:spPr>
        <p:txBody>
          <a:bodyPr wrap="square" lIns="0" tIns="0" rIns="0" bIns="0" rtlCol="0" anchor="t"/>
          <a:lstStyle/>
          <a:p>
            <a:pPr indent="0" marL="0">
              <a:buNone/>
            </a:pPr>
            <a:r>
              <a:rPr lang="en-US" sz="1400" dirty="0">
                <a:solidFill>
                  <a:schemeClr val="bg2"/>
                </a:solidFill>
              </a:rPr>
              <a:t>settings tuned only on a dev split (seed 1000); test split (seed 0) frozen; EM-LLM run from its official code</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ANSWER QUALITY</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The gate beats full context and dense RAG; BM25 is still best</a:t>
            </a:r>
            <a:endParaRPr lang="en-US" sz="3400" dirty="0"/>
          </a:p>
        </p:txBody>
      </p:sp>
      <p:graphicFrame>
        <p:nvGraphicFramePr>
          <p:cNvPr id="4" name="Chart 0" descr=""/>
          <p:cNvGraphicFramePr/>
          <p:nvPr/>
        </p:nvGraphicFramePr>
        <p:xfrm>
          <a:off x="548640" y="160020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5" name="result card 1"/>
          <p:cNvSpPr/>
          <p:nvPr/>
        </p:nvSpPr>
        <p:spPr>
          <a:xfrm>
            <a:off x="7863840" y="1691640"/>
            <a:ext cx="3749040" cy="1280160"/>
          </a:xfrm>
          <a:prstGeom prst="roundRect">
            <a:avLst>
              <a:gd name="adj" fmla="val 8571"/>
            </a:avLst>
          </a:prstGeom>
          <a:solidFill>
            <a:schemeClr val="tx2"/>
          </a:solidFill>
          <a:ln w="9525">
            <a:solidFill>
              <a:schemeClr val="accent6"/>
            </a:solidFill>
            <a:prstDash val="solid"/>
          </a:ln>
        </p:spPr>
      </p:sp>
      <p:sp>
        <p:nvSpPr>
          <p:cNvPr id="6" name="Text 3"/>
          <p:cNvSpPr txBox="1"/>
          <p:nvPr/>
        </p:nvSpPr>
        <p:spPr>
          <a:xfrm>
            <a:off x="8138160" y="1874520"/>
            <a:ext cx="1371600" cy="731520"/>
          </a:xfrm>
          <a:prstGeom prst="rect">
            <a:avLst/>
          </a:prstGeom>
          <a:noFill/>
          <a:ln/>
        </p:spPr>
        <p:txBody>
          <a:bodyPr wrap="square" lIns="0" tIns="0" rIns="0" bIns="0" rtlCol="0" anchor="ctr"/>
          <a:lstStyle/>
          <a:p>
            <a:pPr indent="0" marL="0">
              <a:buNone/>
            </a:pPr>
            <a:r>
              <a:rPr lang="en-US" sz="3600" b="1" dirty="0">
                <a:solidFill>
                  <a:schemeClr val="accent1"/>
                </a:solidFill>
              </a:rPr>
              <a:t>41.7</a:t>
            </a:r>
            <a:endParaRPr lang="en-US" sz="3600" dirty="0"/>
          </a:p>
        </p:txBody>
      </p:sp>
      <p:sp>
        <p:nvSpPr>
          <p:cNvPr id="7" name="Text 4"/>
          <p:cNvSpPr txBox="1"/>
          <p:nvPr/>
        </p:nvSpPr>
        <p:spPr>
          <a:xfrm>
            <a:off x="9464040" y="1874520"/>
            <a:ext cx="2057400" cy="320040"/>
          </a:xfrm>
          <a:prstGeom prst="rect">
            <a:avLst/>
          </a:prstGeom>
          <a:noFill/>
          <a:ln/>
        </p:spPr>
        <p:txBody>
          <a:bodyPr wrap="square" lIns="0" tIns="0" rIns="0" bIns="0" rtlCol="0" anchor="ctr"/>
          <a:lstStyle/>
          <a:p>
            <a:pPr indent="0" marL="0">
              <a:buNone/>
            </a:pPr>
            <a:r>
              <a:rPr lang="en-US" sz="1500" b="1" dirty="0">
                <a:solidFill>
                  <a:schemeClr val="bg1"/>
                </a:solidFill>
              </a:rPr>
              <a:t>SketchRAG + gate</a:t>
            </a:r>
            <a:endParaRPr lang="en-US" sz="1500" dirty="0"/>
          </a:p>
        </p:txBody>
      </p:sp>
      <p:sp>
        <p:nvSpPr>
          <p:cNvPr id="8" name="Text 5"/>
          <p:cNvSpPr txBox="1"/>
          <p:nvPr/>
        </p:nvSpPr>
        <p:spPr>
          <a:xfrm>
            <a:off x="9464040" y="2194560"/>
            <a:ext cx="2057400" cy="731520"/>
          </a:xfrm>
          <a:prstGeom prst="rect">
            <a:avLst/>
          </a:prstGeom>
          <a:noFill/>
          <a:ln/>
        </p:spPr>
        <p:txBody>
          <a:bodyPr wrap="square" lIns="0" tIns="0" rIns="0" bIns="0" rtlCol="0" anchor="t"/>
          <a:lstStyle/>
          <a:p>
            <a:pPr indent="0" marL="0">
              <a:buNone/>
            </a:pPr>
            <a:r>
              <a:rPr lang="en-US" sz="1200" dirty="0">
                <a:solidFill>
                  <a:schemeClr val="bg2"/>
                </a:solidFill>
              </a:rPr>
              <a:t>beats full context (38.1), dense RAG (35.8), SARA-lite (38.2), AMBER-lite (32.0)</a:t>
            </a:r>
            <a:endParaRPr lang="en-US" sz="1200" dirty="0"/>
          </a:p>
        </p:txBody>
      </p:sp>
      <p:sp>
        <p:nvSpPr>
          <p:cNvPr id="9" name="result card 2"/>
          <p:cNvSpPr/>
          <p:nvPr/>
        </p:nvSpPr>
        <p:spPr>
          <a:xfrm>
            <a:off x="7863840" y="3154680"/>
            <a:ext cx="3749040" cy="1280160"/>
          </a:xfrm>
          <a:prstGeom prst="roundRect">
            <a:avLst>
              <a:gd name="adj" fmla="val 8571"/>
            </a:avLst>
          </a:prstGeom>
          <a:solidFill>
            <a:schemeClr val="tx2"/>
          </a:solidFill>
          <a:ln w="9525">
            <a:solidFill>
              <a:schemeClr val="accent6"/>
            </a:solidFill>
            <a:prstDash val="solid"/>
          </a:ln>
        </p:spPr>
      </p:sp>
      <p:sp>
        <p:nvSpPr>
          <p:cNvPr id="10" name="Text 7"/>
          <p:cNvSpPr txBox="1"/>
          <p:nvPr/>
        </p:nvSpPr>
        <p:spPr>
          <a:xfrm>
            <a:off x="8138160" y="3337560"/>
            <a:ext cx="1371600" cy="731520"/>
          </a:xfrm>
          <a:prstGeom prst="rect">
            <a:avLst/>
          </a:prstGeom>
          <a:noFill/>
          <a:ln/>
        </p:spPr>
        <p:txBody>
          <a:bodyPr wrap="square" lIns="0" tIns="0" rIns="0" bIns="0" rtlCol="0" anchor="ctr"/>
          <a:lstStyle/>
          <a:p>
            <a:pPr indent="0" marL="0">
              <a:buNone/>
            </a:pPr>
            <a:r>
              <a:rPr lang="en-US" sz="3600" b="1" dirty="0">
                <a:solidFill>
                  <a:schemeClr val="accent4"/>
                </a:solidFill>
              </a:rPr>
              <a:t>46.0</a:t>
            </a:r>
            <a:endParaRPr lang="en-US" sz="3600" dirty="0"/>
          </a:p>
        </p:txBody>
      </p:sp>
      <p:sp>
        <p:nvSpPr>
          <p:cNvPr id="11" name="Text 8"/>
          <p:cNvSpPr txBox="1"/>
          <p:nvPr/>
        </p:nvSpPr>
        <p:spPr>
          <a:xfrm>
            <a:off x="9464040" y="3337560"/>
            <a:ext cx="2057400" cy="320040"/>
          </a:xfrm>
          <a:prstGeom prst="rect">
            <a:avLst/>
          </a:prstGeom>
          <a:noFill/>
          <a:ln/>
        </p:spPr>
        <p:txBody>
          <a:bodyPr wrap="square" lIns="0" tIns="0" rIns="0" bIns="0" rtlCol="0" anchor="ctr"/>
          <a:lstStyle/>
          <a:p>
            <a:pPr indent="0" marL="0">
              <a:buNone/>
            </a:pPr>
            <a:r>
              <a:rPr lang="en-US" sz="1500" b="1" dirty="0">
                <a:solidFill>
                  <a:schemeClr val="bg1"/>
                </a:solidFill>
              </a:rPr>
              <a:t>BM25 RAG</a:t>
            </a:r>
            <a:endParaRPr lang="en-US" sz="1500" dirty="0"/>
          </a:p>
        </p:txBody>
      </p:sp>
      <p:sp>
        <p:nvSpPr>
          <p:cNvPr id="12" name="Text 9"/>
          <p:cNvSpPr txBox="1"/>
          <p:nvPr/>
        </p:nvSpPr>
        <p:spPr>
          <a:xfrm>
            <a:off x="9464040" y="3657600"/>
            <a:ext cx="2057400" cy="731520"/>
          </a:xfrm>
          <a:prstGeom prst="rect">
            <a:avLst/>
          </a:prstGeom>
          <a:noFill/>
          <a:ln/>
        </p:spPr>
        <p:txBody>
          <a:bodyPr wrap="square" lIns="0" tIns="0" rIns="0" bIns="0" rtlCol="0" anchor="t"/>
          <a:lstStyle/>
          <a:p>
            <a:pPr indent="0" marL="0">
              <a:buNone/>
            </a:pPr>
            <a:r>
              <a:rPr lang="en-US" sz="1200" dirty="0">
                <a:solidFill>
                  <a:schemeClr val="bg2"/>
                </a:solidFill>
              </a:rPr>
              <a:t>the best system overall, mostly on exact-match tasks</a:t>
            </a:r>
            <a:endParaRPr lang="en-US" sz="1200" dirty="0"/>
          </a:p>
        </p:txBody>
      </p:sp>
      <p:sp>
        <p:nvSpPr>
          <p:cNvPr id="13" name="result card 3"/>
          <p:cNvSpPr/>
          <p:nvPr/>
        </p:nvSpPr>
        <p:spPr>
          <a:xfrm>
            <a:off x="7863840" y="4617720"/>
            <a:ext cx="3749040" cy="1280160"/>
          </a:xfrm>
          <a:prstGeom prst="roundRect">
            <a:avLst>
              <a:gd name="adj" fmla="val 8571"/>
            </a:avLst>
          </a:prstGeom>
          <a:solidFill>
            <a:schemeClr val="tx2"/>
          </a:solidFill>
          <a:ln w="9525">
            <a:solidFill>
              <a:schemeClr val="accent6"/>
            </a:solidFill>
            <a:prstDash val="solid"/>
          </a:ln>
        </p:spPr>
      </p:sp>
      <p:sp>
        <p:nvSpPr>
          <p:cNvPr id="14" name="Text 11"/>
          <p:cNvSpPr txBox="1"/>
          <p:nvPr/>
        </p:nvSpPr>
        <p:spPr>
          <a:xfrm>
            <a:off x="8138160" y="4800600"/>
            <a:ext cx="1371600" cy="731520"/>
          </a:xfrm>
          <a:prstGeom prst="rect">
            <a:avLst/>
          </a:prstGeom>
          <a:noFill/>
          <a:ln/>
        </p:spPr>
        <p:txBody>
          <a:bodyPr wrap="square" lIns="0" tIns="0" rIns="0" bIns="0" rtlCol="0" anchor="ctr"/>
          <a:lstStyle/>
          <a:p>
            <a:pPr indent="0" marL="0">
              <a:buNone/>
            </a:pPr>
            <a:r>
              <a:rPr lang="en-US" sz="3600" b="1" dirty="0">
                <a:solidFill>
                  <a:schemeClr val="bg2"/>
                </a:solidFill>
              </a:rPr>
              <a:t>29.9</a:t>
            </a:r>
            <a:endParaRPr lang="en-US" sz="3600" dirty="0"/>
          </a:p>
        </p:txBody>
      </p:sp>
      <p:sp>
        <p:nvSpPr>
          <p:cNvPr id="15" name="Text 12"/>
          <p:cNvSpPr txBox="1"/>
          <p:nvPr/>
        </p:nvSpPr>
        <p:spPr>
          <a:xfrm>
            <a:off x="9464040" y="4800600"/>
            <a:ext cx="2057400" cy="320040"/>
          </a:xfrm>
          <a:prstGeom prst="rect">
            <a:avLst/>
          </a:prstGeom>
          <a:noFill/>
          <a:ln/>
        </p:spPr>
        <p:txBody>
          <a:bodyPr wrap="square" lIns="0" tIns="0" rIns="0" bIns="0" rtlCol="0" anchor="ctr"/>
          <a:lstStyle/>
          <a:p>
            <a:pPr indent="0" marL="0">
              <a:buNone/>
            </a:pPr>
            <a:r>
              <a:rPr lang="en-US" sz="1500" b="1" dirty="0">
                <a:solidFill>
                  <a:schemeClr val="bg1"/>
                </a:solidFill>
              </a:rPr>
              <a:t>digest only</a:t>
            </a:r>
            <a:endParaRPr lang="en-US" sz="1500" dirty="0"/>
          </a:p>
        </p:txBody>
      </p:sp>
      <p:sp>
        <p:nvSpPr>
          <p:cNvPr id="16" name="Text 13"/>
          <p:cNvSpPr txBox="1"/>
          <p:nvPr/>
        </p:nvSpPr>
        <p:spPr>
          <a:xfrm>
            <a:off x="9464040" y="5120640"/>
            <a:ext cx="2057400" cy="731520"/>
          </a:xfrm>
          <a:prstGeom prst="rect">
            <a:avLst/>
          </a:prstGeom>
          <a:noFill/>
          <a:ln/>
        </p:spPr>
        <p:txBody>
          <a:bodyPr wrap="square" lIns="0" tIns="0" rIns="0" bIns="0" rtlCol="0" anchor="t"/>
          <a:lstStyle/>
          <a:p>
            <a:pPr indent="0" marL="0">
              <a:buNone/>
            </a:pPr>
            <a:r>
              <a:rPr lang="en-US" sz="1200" dirty="0">
                <a:solidFill>
                  <a:schemeClr val="bg2"/>
                </a:solidFill>
              </a:rPr>
              <a:t>summaries alone lose exact facts; the gate adds 11.8 points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CONTEXT COST</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1,213 tokens per question: the cheapest context</a:t>
            </a:r>
            <a:endParaRPr lang="en-US" sz="3400" dirty="0"/>
          </a:p>
        </p:txBody>
      </p:sp>
      <p:graphicFrame>
        <p:nvGraphicFramePr>
          <p:cNvPr id="4" name="Chart 0" descr=""/>
          <p:cNvGraphicFramePr/>
          <p:nvPr/>
        </p:nvGraphicFramePr>
        <p:xfrm>
          <a:off x="548640" y="160020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5" name="cost card 1"/>
          <p:cNvSpPr/>
          <p:nvPr/>
        </p:nvSpPr>
        <p:spPr>
          <a:xfrm>
            <a:off x="7863840" y="1691640"/>
            <a:ext cx="3749040" cy="1280160"/>
          </a:xfrm>
          <a:prstGeom prst="roundRect">
            <a:avLst>
              <a:gd name="adj" fmla="val 8571"/>
            </a:avLst>
          </a:prstGeom>
          <a:solidFill>
            <a:schemeClr val="tx2"/>
          </a:solidFill>
          <a:ln w="9525">
            <a:solidFill>
              <a:schemeClr val="accent6"/>
            </a:solidFill>
            <a:prstDash val="solid"/>
          </a:ln>
        </p:spPr>
      </p:sp>
      <p:sp>
        <p:nvSpPr>
          <p:cNvPr id="6" name="Text 3"/>
          <p:cNvSpPr txBox="1"/>
          <p:nvPr/>
        </p:nvSpPr>
        <p:spPr>
          <a:xfrm>
            <a:off x="8138160" y="1874520"/>
            <a:ext cx="3291840" cy="594360"/>
          </a:xfrm>
          <a:prstGeom prst="rect">
            <a:avLst/>
          </a:prstGeom>
          <a:noFill/>
          <a:ln/>
        </p:spPr>
        <p:txBody>
          <a:bodyPr wrap="square" lIns="0" tIns="0" rIns="0" bIns="0" rtlCol="0" anchor="ctr"/>
          <a:lstStyle/>
          <a:p>
            <a:pPr indent="0" marL="0">
              <a:buNone/>
            </a:pPr>
            <a:r>
              <a:rPr lang="en-US" sz="3400" b="1" dirty="0">
                <a:solidFill>
                  <a:schemeClr val="accent1"/>
                </a:solidFill>
              </a:rPr>
              <a:t>8.5%</a:t>
            </a:r>
            <a:endParaRPr lang="en-US" sz="3400" dirty="0"/>
          </a:p>
        </p:txBody>
      </p:sp>
      <p:sp>
        <p:nvSpPr>
          <p:cNvPr id="7" name="Text 4"/>
          <p:cNvSpPr txBox="1"/>
          <p:nvPr/>
        </p:nvSpPr>
        <p:spPr>
          <a:xfrm>
            <a:off x="8138160" y="2468880"/>
            <a:ext cx="3291840" cy="411480"/>
          </a:xfrm>
          <a:prstGeom prst="rect">
            <a:avLst/>
          </a:prstGeom>
          <a:noFill/>
          <a:ln/>
        </p:spPr>
        <p:txBody>
          <a:bodyPr wrap="square" lIns="0" tIns="0" rIns="0" bIns="0" rtlCol="0" anchor="ctr"/>
          <a:lstStyle/>
          <a:p>
            <a:pPr indent="0" marL="0">
              <a:buNone/>
            </a:pPr>
            <a:r>
              <a:rPr lang="en-US" sz="1350" dirty="0">
                <a:solidFill>
                  <a:schemeClr val="bg1"/>
                </a:solidFill>
              </a:rPr>
              <a:t>of full context's tokens</a:t>
            </a:r>
            <a:endParaRPr lang="en-US" sz="1350" dirty="0"/>
          </a:p>
        </p:txBody>
      </p:sp>
      <p:sp>
        <p:nvSpPr>
          <p:cNvPr id="8" name="cost card 2"/>
          <p:cNvSpPr/>
          <p:nvPr/>
        </p:nvSpPr>
        <p:spPr>
          <a:xfrm>
            <a:off x="7863840" y="3154680"/>
            <a:ext cx="3749040" cy="1280160"/>
          </a:xfrm>
          <a:prstGeom prst="roundRect">
            <a:avLst>
              <a:gd name="adj" fmla="val 8571"/>
            </a:avLst>
          </a:prstGeom>
          <a:solidFill>
            <a:schemeClr val="tx2"/>
          </a:solidFill>
          <a:ln w="9525">
            <a:solidFill>
              <a:schemeClr val="accent6"/>
            </a:solidFill>
            <a:prstDash val="solid"/>
          </a:ln>
        </p:spPr>
      </p:sp>
      <p:sp>
        <p:nvSpPr>
          <p:cNvPr id="9" name="Text 6"/>
          <p:cNvSpPr txBox="1"/>
          <p:nvPr/>
        </p:nvSpPr>
        <p:spPr>
          <a:xfrm>
            <a:off x="8138160" y="3337560"/>
            <a:ext cx="3291840" cy="594360"/>
          </a:xfrm>
          <a:prstGeom prst="rect">
            <a:avLst/>
          </a:prstGeom>
          <a:noFill/>
          <a:ln/>
        </p:spPr>
        <p:txBody>
          <a:bodyPr wrap="square" lIns="0" tIns="0" rIns="0" bIns="0" rtlCol="0" anchor="ctr"/>
          <a:lstStyle/>
          <a:p>
            <a:pPr indent="0" marL="0">
              <a:buNone/>
            </a:pPr>
            <a:r>
              <a:rPr lang="en-US" sz="3400" b="1" dirty="0">
                <a:solidFill>
                  <a:schemeClr val="accent2"/>
                </a:solidFill>
              </a:rPr>
              <a:t>5.8 s</a:t>
            </a:r>
            <a:endParaRPr lang="en-US" sz="3400" dirty="0"/>
          </a:p>
        </p:txBody>
      </p:sp>
      <p:sp>
        <p:nvSpPr>
          <p:cNvPr id="10" name="Text 7"/>
          <p:cNvSpPr txBox="1"/>
          <p:nvPr/>
        </p:nvSpPr>
        <p:spPr>
          <a:xfrm>
            <a:off x="8138160" y="3931920"/>
            <a:ext cx="3291840" cy="411480"/>
          </a:xfrm>
          <a:prstGeom prst="rect">
            <a:avLst/>
          </a:prstGeom>
          <a:noFill/>
          <a:ln/>
        </p:spPr>
        <p:txBody>
          <a:bodyPr wrap="square" lIns="0" tIns="0" rIns="0" bIns="0" rtlCol="0" anchor="ctr"/>
          <a:lstStyle/>
          <a:p>
            <a:pPr indent="0" marL="0">
              <a:buNone/>
            </a:pPr>
            <a:r>
              <a:rPr lang="en-US" sz="1350" dirty="0">
                <a:solidFill>
                  <a:schemeClr val="bg1"/>
                </a:solidFill>
              </a:rPr>
              <a:t>LLM time per question, vs 61.5 s for full context</a:t>
            </a:r>
            <a:endParaRPr lang="en-US" sz="1350" dirty="0"/>
          </a:p>
        </p:txBody>
      </p:sp>
      <p:sp>
        <p:nvSpPr>
          <p:cNvPr id="11" name="cost card 3"/>
          <p:cNvSpPr/>
          <p:nvPr/>
        </p:nvSpPr>
        <p:spPr>
          <a:xfrm>
            <a:off x="7863840" y="4617720"/>
            <a:ext cx="3749040" cy="1280160"/>
          </a:xfrm>
          <a:prstGeom prst="roundRect">
            <a:avLst>
              <a:gd name="adj" fmla="val 8571"/>
            </a:avLst>
          </a:prstGeom>
          <a:solidFill>
            <a:schemeClr val="tx2"/>
          </a:solidFill>
          <a:ln w="9525">
            <a:solidFill>
              <a:schemeClr val="accent6"/>
            </a:solidFill>
            <a:prstDash val="solid"/>
          </a:ln>
        </p:spPr>
      </p:sp>
      <p:sp>
        <p:nvSpPr>
          <p:cNvPr id="12" name="Text 9"/>
          <p:cNvSpPr txBox="1"/>
          <p:nvPr/>
        </p:nvSpPr>
        <p:spPr>
          <a:xfrm>
            <a:off x="8138160" y="4800600"/>
            <a:ext cx="3291840" cy="594360"/>
          </a:xfrm>
          <a:prstGeom prst="rect">
            <a:avLst/>
          </a:prstGeom>
          <a:noFill/>
          <a:ln/>
        </p:spPr>
        <p:txBody>
          <a:bodyPr wrap="square" lIns="0" tIns="0" rIns="0" bIns="0" rtlCol="0" anchor="ctr"/>
          <a:lstStyle/>
          <a:p>
            <a:pPr indent="0" marL="0">
              <a:buNone/>
            </a:pPr>
            <a:r>
              <a:rPr lang="en-US" sz="3400" b="1" dirty="0">
                <a:solidFill>
                  <a:schemeClr val="accent3"/>
                </a:solidFill>
              </a:rPr>
              <a:t>1 call</a:t>
            </a:r>
            <a:endParaRPr lang="en-US" sz="3400" dirty="0"/>
          </a:p>
        </p:txBody>
      </p:sp>
      <p:sp>
        <p:nvSpPr>
          <p:cNvPr id="13" name="Text 10"/>
          <p:cNvSpPr txBox="1"/>
          <p:nvPr/>
        </p:nvSpPr>
        <p:spPr>
          <a:xfrm>
            <a:off x="8138160" y="5394960"/>
            <a:ext cx="3291840" cy="411480"/>
          </a:xfrm>
          <a:prstGeom prst="rect">
            <a:avLst/>
          </a:prstGeom>
          <a:noFill/>
          <a:ln/>
        </p:spPr>
        <p:txBody>
          <a:bodyPr wrap="square" lIns="0" tIns="0" rIns="0" bIns="0" rtlCol="0" anchor="ctr"/>
          <a:lstStyle/>
          <a:p>
            <a:pPr indent="0" marL="0">
              <a:buNone/>
            </a:pPr>
            <a:r>
              <a:rPr lang="en-US" sz="1350" dirty="0">
                <a:solidFill>
                  <a:schemeClr val="bg1"/>
                </a:solidFill>
              </a:rPr>
              <a:t>per question; AMBER-lite needs 3.0</a:t>
            </a:r>
            <a:endParaRPr lang="en-US" sz="13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IS THE GATE CALIBRATED?</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It escalates exactly where raw evidence matters</a:t>
            </a:r>
            <a:endParaRPr lang="en-US" sz="3400" dirty="0"/>
          </a:p>
        </p:txBody>
      </p:sp>
      <p:graphicFrame>
        <p:nvGraphicFramePr>
          <p:cNvPr id="4" name="Chart 0" descr=""/>
          <p:cNvGraphicFramePr/>
          <p:nvPr/>
        </p:nvGraphicFramePr>
        <p:xfrm>
          <a:off x="548640" y="1600200"/>
          <a:ext cx="6035040" cy="4526280"/>
        </p:xfrm>
        <a:graphic xmlns:a="http://schemas.openxmlformats.org/drawingml/2006/main">
          <a:graphicData uri="http://schemas.openxmlformats.org/drawingml/2006/chart">
            <c:chart xmlns:c="http://schemas.openxmlformats.org/drawingml/2006/chart" r:id="rId1"/>
          </a:graphicData>
        </a:graphic>
      </p:graphicFrame>
      <p:sp>
        <p:nvSpPr>
          <p:cNvPr id="5" name="calibration card 1"/>
          <p:cNvSpPr/>
          <p:nvPr/>
        </p:nvSpPr>
        <p:spPr>
          <a:xfrm>
            <a:off x="6949440" y="1691640"/>
            <a:ext cx="4663440" cy="1280160"/>
          </a:xfrm>
          <a:prstGeom prst="roundRect">
            <a:avLst>
              <a:gd name="adj" fmla="val 8571"/>
            </a:avLst>
          </a:prstGeom>
          <a:solidFill>
            <a:schemeClr val="tx2"/>
          </a:solidFill>
          <a:ln w="9525">
            <a:solidFill>
              <a:schemeClr val="accent6"/>
            </a:solidFill>
            <a:prstDash val="solid"/>
          </a:ln>
        </p:spPr>
      </p:sp>
      <p:sp>
        <p:nvSpPr>
          <p:cNvPr id="6" name="Text 3"/>
          <p:cNvSpPr txBox="1"/>
          <p:nvPr/>
        </p:nvSpPr>
        <p:spPr>
          <a:xfrm>
            <a:off x="7223760" y="1874520"/>
            <a:ext cx="1600200" cy="685800"/>
          </a:xfrm>
          <a:prstGeom prst="rect">
            <a:avLst/>
          </a:prstGeom>
          <a:noFill/>
          <a:ln/>
        </p:spPr>
        <p:txBody>
          <a:bodyPr wrap="square" lIns="0" tIns="0" rIns="0" bIns="0" rtlCol="0" anchor="ctr"/>
          <a:lstStyle/>
          <a:p>
            <a:pPr indent="0" marL="0">
              <a:buNone/>
            </a:pPr>
            <a:r>
              <a:rPr lang="en-US" sz="3000" b="1" dirty="0">
                <a:solidFill>
                  <a:schemeClr val="accent4"/>
                </a:solidFill>
              </a:rPr>
              <a:t>54%</a:t>
            </a:r>
            <a:endParaRPr lang="en-US" sz="3000" dirty="0"/>
          </a:p>
        </p:txBody>
      </p:sp>
      <p:sp>
        <p:nvSpPr>
          <p:cNvPr id="7" name="Text 4"/>
          <p:cNvSpPr txBox="1"/>
          <p:nvPr/>
        </p:nvSpPr>
        <p:spPr>
          <a:xfrm>
            <a:off x="8869680" y="1874520"/>
            <a:ext cx="2606040" cy="320040"/>
          </a:xfrm>
          <a:prstGeom prst="rect">
            <a:avLst/>
          </a:prstGeom>
          <a:noFill/>
          <a:ln/>
        </p:spPr>
        <p:txBody>
          <a:bodyPr wrap="square" lIns="0" tIns="0" rIns="0" bIns="0" rtlCol="0" anchor="ctr"/>
          <a:lstStyle/>
          <a:p>
            <a:pPr indent="0" marL="0">
              <a:buNone/>
            </a:pPr>
            <a:r>
              <a:rPr lang="en-US" sz="1450" b="1" dirty="0">
                <a:solidFill>
                  <a:schemeClr val="bg1"/>
                </a:solidFill>
              </a:rPr>
              <a:t>of questions escalated</a:t>
            </a:r>
            <a:endParaRPr lang="en-US" sz="1450" dirty="0"/>
          </a:p>
        </p:txBody>
      </p:sp>
      <p:sp>
        <p:nvSpPr>
          <p:cNvPr id="8" name="Text 5"/>
          <p:cNvSpPr txBox="1"/>
          <p:nvPr/>
        </p:nvSpPr>
        <p:spPr>
          <a:xfrm>
            <a:off x="8869680" y="2203704"/>
            <a:ext cx="2606040" cy="731520"/>
          </a:xfrm>
          <a:prstGeom prst="rect">
            <a:avLst/>
          </a:prstGeom>
          <a:noFill/>
          <a:ln/>
        </p:spPr>
        <p:txBody>
          <a:bodyPr wrap="square" lIns="0" tIns="0" rIns="0" bIns="0" rtlCol="0" anchor="t"/>
          <a:lstStyle/>
          <a:p>
            <a:pPr indent="0" marL="0">
              <a:buNone/>
            </a:pPr>
            <a:r>
              <a:rPr lang="en-US" sz="1200" dirty="0">
                <a:solidFill>
                  <a:schemeClr val="bg2"/>
                </a:solidFill>
              </a:rPr>
              <a:t>190 of 350; there raw text lifts the score 30.0 → 51.5</a:t>
            </a:r>
            <a:endParaRPr lang="en-US" sz="1200" dirty="0"/>
          </a:p>
        </p:txBody>
      </p:sp>
      <p:sp>
        <p:nvSpPr>
          <p:cNvPr id="9" name="calibration card 2"/>
          <p:cNvSpPr/>
          <p:nvPr/>
        </p:nvSpPr>
        <p:spPr>
          <a:xfrm>
            <a:off x="6949440" y="3154680"/>
            <a:ext cx="4663440" cy="1280160"/>
          </a:xfrm>
          <a:prstGeom prst="roundRect">
            <a:avLst>
              <a:gd name="adj" fmla="val 8571"/>
            </a:avLst>
          </a:prstGeom>
          <a:solidFill>
            <a:schemeClr val="tx2"/>
          </a:solidFill>
          <a:ln w="9525">
            <a:solidFill>
              <a:schemeClr val="accent6"/>
            </a:solidFill>
            <a:prstDash val="solid"/>
          </a:ln>
        </p:spPr>
      </p:sp>
      <p:sp>
        <p:nvSpPr>
          <p:cNvPr id="10" name="Text 7"/>
          <p:cNvSpPr txBox="1"/>
          <p:nvPr/>
        </p:nvSpPr>
        <p:spPr>
          <a:xfrm>
            <a:off x="7223760" y="3337560"/>
            <a:ext cx="1600200" cy="685800"/>
          </a:xfrm>
          <a:prstGeom prst="rect">
            <a:avLst/>
          </a:prstGeom>
          <a:noFill/>
          <a:ln/>
        </p:spPr>
        <p:txBody>
          <a:bodyPr wrap="square" lIns="0" tIns="0" rIns="0" bIns="0" rtlCol="0" anchor="ctr"/>
          <a:lstStyle/>
          <a:p>
            <a:pPr indent="0" marL="0">
              <a:buNone/>
            </a:pPr>
            <a:r>
              <a:rPr lang="en-US" sz="3000" b="1" dirty="0">
                <a:solidFill>
                  <a:schemeClr val="accent1"/>
                </a:solidFill>
              </a:rPr>
              <a:t>94%</a:t>
            </a:r>
            <a:endParaRPr lang="en-US" sz="3000" dirty="0"/>
          </a:p>
        </p:txBody>
      </p:sp>
      <p:sp>
        <p:nvSpPr>
          <p:cNvPr id="11" name="Text 8"/>
          <p:cNvSpPr txBox="1"/>
          <p:nvPr/>
        </p:nvSpPr>
        <p:spPr>
          <a:xfrm>
            <a:off x="8869680" y="3337560"/>
            <a:ext cx="2606040" cy="320040"/>
          </a:xfrm>
          <a:prstGeom prst="rect">
            <a:avLst/>
          </a:prstGeom>
          <a:noFill/>
          <a:ln/>
        </p:spPr>
        <p:txBody>
          <a:bodyPr wrap="square" lIns="0" tIns="0" rIns="0" bIns="0" rtlCol="0" anchor="ctr"/>
          <a:lstStyle/>
          <a:p>
            <a:pPr indent="0" marL="0">
              <a:buNone/>
            </a:pPr>
            <a:r>
              <a:rPr lang="en-US" sz="1450" b="1" dirty="0">
                <a:solidFill>
                  <a:schemeClr val="bg1"/>
                </a:solidFill>
              </a:rPr>
              <a:t>of the always-raw gain</a:t>
            </a:r>
            <a:endParaRPr lang="en-US" sz="1450" dirty="0"/>
          </a:p>
        </p:txBody>
      </p:sp>
      <p:sp>
        <p:nvSpPr>
          <p:cNvPr id="12" name="Text 9"/>
          <p:cNvSpPr txBox="1"/>
          <p:nvPr/>
        </p:nvSpPr>
        <p:spPr>
          <a:xfrm>
            <a:off x="8869680" y="3666744"/>
            <a:ext cx="2606040" cy="731520"/>
          </a:xfrm>
          <a:prstGeom prst="rect">
            <a:avLst/>
          </a:prstGeom>
          <a:noFill/>
          <a:ln/>
        </p:spPr>
        <p:txBody>
          <a:bodyPr wrap="square" lIns="0" tIns="0" rIns="0" bIns="0" rtlCol="0" anchor="t"/>
          <a:lstStyle/>
          <a:p>
            <a:pPr indent="0" marL="0">
              <a:buNone/>
            </a:pPr>
            <a:r>
              <a:rPr lang="en-US" sz="1200" dirty="0">
                <a:solidFill>
                  <a:schemeClr val="bg2"/>
                </a:solidFill>
              </a:rPr>
              <a:t>with 22% fewer tokens than always reading raw</a:t>
            </a:r>
            <a:endParaRPr lang="en-US" sz="1200" dirty="0"/>
          </a:p>
        </p:txBody>
      </p:sp>
      <p:sp>
        <p:nvSpPr>
          <p:cNvPr id="13" name="calibration card 3"/>
          <p:cNvSpPr/>
          <p:nvPr/>
        </p:nvSpPr>
        <p:spPr>
          <a:xfrm>
            <a:off x="6949440" y="4617720"/>
            <a:ext cx="4663440" cy="1280160"/>
          </a:xfrm>
          <a:prstGeom prst="roundRect">
            <a:avLst>
              <a:gd name="adj" fmla="val 8571"/>
            </a:avLst>
          </a:prstGeom>
          <a:solidFill>
            <a:schemeClr val="tx2"/>
          </a:solidFill>
          <a:ln w="9525">
            <a:solidFill>
              <a:schemeClr val="accent6"/>
            </a:solidFill>
            <a:prstDash val="solid"/>
          </a:ln>
        </p:spPr>
      </p:sp>
      <p:sp>
        <p:nvSpPr>
          <p:cNvPr id="14" name="Text 11"/>
          <p:cNvSpPr txBox="1"/>
          <p:nvPr/>
        </p:nvSpPr>
        <p:spPr>
          <a:xfrm>
            <a:off x="7223760" y="4800600"/>
            <a:ext cx="1600200" cy="685800"/>
          </a:xfrm>
          <a:prstGeom prst="rect">
            <a:avLst/>
          </a:prstGeom>
          <a:noFill/>
          <a:ln/>
        </p:spPr>
        <p:txBody>
          <a:bodyPr wrap="square" lIns="0" tIns="0" rIns="0" bIns="0" rtlCol="0" anchor="ctr"/>
          <a:lstStyle/>
          <a:p>
            <a:pPr indent="0" marL="0">
              <a:buNone/>
            </a:pPr>
            <a:r>
              <a:rPr lang="en-US" sz="3000" b="1" dirty="0">
                <a:solidFill>
                  <a:schemeClr val="accent5"/>
                </a:solidFill>
              </a:rPr>
              <a:t>30 / 350</a:t>
            </a:r>
            <a:endParaRPr lang="en-US" sz="3000" dirty="0"/>
          </a:p>
        </p:txBody>
      </p:sp>
      <p:sp>
        <p:nvSpPr>
          <p:cNvPr id="15" name="Text 12"/>
          <p:cNvSpPr txBox="1"/>
          <p:nvPr/>
        </p:nvSpPr>
        <p:spPr>
          <a:xfrm>
            <a:off x="8869680" y="4800600"/>
            <a:ext cx="2606040" cy="320040"/>
          </a:xfrm>
          <a:prstGeom prst="rect">
            <a:avLst/>
          </a:prstGeom>
          <a:noFill/>
          <a:ln/>
        </p:spPr>
        <p:txBody>
          <a:bodyPr wrap="square" lIns="0" tIns="0" rIns="0" bIns="0" rtlCol="0" anchor="ctr"/>
          <a:lstStyle/>
          <a:p>
            <a:pPr indent="0" marL="0">
              <a:buNone/>
            </a:pPr>
            <a:r>
              <a:rPr lang="en-US" sz="1450" b="1" dirty="0">
                <a:solidFill>
                  <a:schemeClr val="bg1"/>
                </a:solidFill>
              </a:rPr>
              <a:t>tool calls by an LLM agent</a:t>
            </a:r>
            <a:endParaRPr lang="en-US" sz="1450" dirty="0"/>
          </a:p>
        </p:txBody>
      </p:sp>
      <p:sp>
        <p:nvSpPr>
          <p:cNvPr id="16" name="Text 13"/>
          <p:cNvSpPr txBox="1"/>
          <p:nvPr/>
        </p:nvSpPr>
        <p:spPr>
          <a:xfrm>
            <a:off x="8869680" y="5129784"/>
            <a:ext cx="2606040" cy="731520"/>
          </a:xfrm>
          <a:prstGeom prst="rect">
            <a:avLst/>
          </a:prstGeom>
          <a:noFill/>
          <a:ln/>
        </p:spPr>
        <p:txBody>
          <a:bodyPr wrap="square" lIns="0" tIns="0" rIns="0" bIns="0" rtlCol="0" anchor="t"/>
          <a:lstStyle/>
          <a:p>
            <a:pPr indent="0" marL="0">
              <a:buNone/>
            </a:pPr>
            <a:r>
              <a:rPr lang="en-US" sz="1200" dirty="0">
                <a:solidFill>
                  <a:schemeClr val="bg2"/>
                </a:solidFill>
              </a:rPr>
              <a:t>left to decide itself, a 7B model rarely fetches raw text and scores 30.1</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ABLATIONS AND MEMORY BUDGET</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Raw pointers matter most; cell budget barely does</a:t>
            </a:r>
            <a:endParaRPr lang="en-US" sz="3400" dirty="0"/>
          </a:p>
        </p:txBody>
      </p:sp>
      <p:graphicFrame>
        <p:nvGraphicFramePr>
          <p:cNvPr id="4" name="Chart 0" descr=""/>
          <p:cNvGraphicFramePr/>
          <p:nvPr/>
        </p:nvGraphicFramePr>
        <p:xfrm>
          <a:off x="548640" y="1600200"/>
          <a:ext cx="566928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583680" y="1600200"/>
          <a:ext cx="5029200" cy="34290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583680" y="5120640"/>
            <a:ext cx="5029200" cy="914400"/>
          </a:xfrm>
          <a:prstGeom prst="rect">
            <a:avLst/>
          </a:prstGeom>
          <a:noFill/>
          <a:ln/>
        </p:spPr>
        <p:txBody>
          <a:bodyPr wrap="square" lIns="0" tIns="0" rIns="0" bIns="0" rtlCol="0" anchor="t"/>
          <a:lstStyle/>
          <a:p>
            <a:pPr indent="0" marL="0">
              <a:buNone/>
            </a:pPr>
            <a:r>
              <a:rPr lang="en-US" sz="1300" dirty="0">
                <a:solidFill>
                  <a:schemeClr val="bg2"/>
                </a:solidFill>
              </a:rPr>
              <a:t>Fewer cells → coarser digests → the gate escalates more (fire rate 0.45 → 0.77) and holds the score at 40.3–45.5. Hot memory: 178–507 KB.</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LONG-STREAM STRESS TEST</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8.5M words: memory stays flat, but recall drops</a:t>
            </a:r>
            <a:endParaRPr lang="en-US" sz="3400" dirty="0"/>
          </a:p>
        </p:txBody>
      </p:sp>
      <p:graphicFrame>
        <p:nvGraphicFramePr>
          <p:cNvPr id="4" name="Chart 0" descr=""/>
          <p:cNvGraphicFramePr/>
          <p:nvPr/>
        </p:nvGraphicFramePr>
        <p:xfrm>
          <a:off x="548640" y="1600200"/>
          <a:ext cx="676656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6144768"/>
            <a:ext cx="6766560" cy="256032"/>
          </a:xfrm>
          <a:prstGeom prst="rect">
            <a:avLst/>
          </a:prstGeom>
          <a:noFill/>
          <a:ln/>
        </p:spPr>
        <p:txBody>
          <a:bodyPr wrap="square" lIns="0" tIns="0" rIns="0" bIns="0" rtlCol="0" anchor="ctr"/>
          <a:lstStyle/>
          <a:p>
            <a:pPr indent="0" marL="0">
              <a:buNone/>
            </a:pPr>
            <a:r>
              <a:rPr lang="en-US" sz="1000" dirty="0">
                <a:solidFill>
                  <a:schemeClr val="bg2"/>
                </a:solidFill>
              </a:rPr>
              <a:t>Dense index size estimated as raw text + one 384-d float32 vector per chunk (same accounting as the stress-test script).</a:t>
            </a:r>
            <a:endParaRPr lang="en-US" sz="1000" dirty="0"/>
          </a:p>
        </p:txBody>
      </p:sp>
      <p:sp>
        <p:nvSpPr>
          <p:cNvPr id="6" name="stress memory card"/>
          <p:cNvSpPr/>
          <p:nvPr/>
        </p:nvSpPr>
        <p:spPr>
          <a:xfrm>
            <a:off x="7680960" y="1691640"/>
            <a:ext cx="3931920" cy="1828800"/>
          </a:xfrm>
          <a:prstGeom prst="roundRect">
            <a:avLst>
              <a:gd name="adj" fmla="val 6000"/>
            </a:avLst>
          </a:prstGeom>
          <a:solidFill>
            <a:schemeClr val="tx2"/>
          </a:solidFill>
          <a:ln w="9525">
            <a:solidFill>
              <a:schemeClr val="accent6"/>
            </a:solidFill>
            <a:prstDash val="solid"/>
          </a:ln>
        </p:spPr>
      </p:sp>
      <p:sp>
        <p:nvSpPr>
          <p:cNvPr id="7" name="Text 4"/>
          <p:cNvSpPr txBox="1"/>
          <p:nvPr/>
        </p:nvSpPr>
        <p:spPr>
          <a:xfrm>
            <a:off x="7955280" y="1920240"/>
            <a:ext cx="3474720" cy="640080"/>
          </a:xfrm>
          <a:prstGeom prst="rect">
            <a:avLst/>
          </a:prstGeom>
          <a:noFill/>
          <a:ln/>
        </p:spPr>
        <p:txBody>
          <a:bodyPr wrap="square" lIns="0" tIns="0" rIns="0" bIns="0" rtlCol="0" anchor="ctr"/>
          <a:lstStyle/>
          <a:p>
            <a:pPr indent="0" marL="0">
              <a:buNone/>
            </a:pPr>
            <a:r>
              <a:rPr lang="en-US" sz="3000" b="1" dirty="0">
                <a:solidFill>
                  <a:schemeClr val="accent1"/>
                </a:solidFill>
              </a:rPr>
              <a:t>1.0 MB vs 146 MB</a:t>
            </a:r>
            <a:endParaRPr lang="en-US" sz="3000" dirty="0"/>
          </a:p>
        </p:txBody>
      </p:sp>
      <p:sp>
        <p:nvSpPr>
          <p:cNvPr id="8" name="Text 5"/>
          <p:cNvSpPr txBox="1"/>
          <p:nvPr/>
        </p:nvSpPr>
        <p:spPr>
          <a:xfrm>
            <a:off x="7955280" y="2606040"/>
            <a:ext cx="3474720" cy="731520"/>
          </a:xfrm>
          <a:prstGeom prst="rect">
            <a:avLst/>
          </a:prstGeom>
          <a:noFill/>
          <a:ln/>
        </p:spPr>
        <p:txBody>
          <a:bodyPr wrap="square" lIns="0" tIns="0" rIns="0" bIns="0" rtlCol="0" anchor="t"/>
          <a:lstStyle/>
          <a:p>
            <a:pPr indent="0" marL="0">
              <a:buNone/>
            </a:pPr>
            <a:r>
              <a:rPr lang="en-US" sz="1300" dirty="0">
                <a:solidFill>
                  <a:schemeClr val="bg1"/>
                </a:solidFill>
              </a:rPr>
              <a:t>SketchRAG hot memory (64 cells) vs a dense index after 8.5M words</a:t>
            </a:r>
            <a:endParaRPr lang="en-US" sz="1300" dirty="0"/>
          </a:p>
        </p:txBody>
      </p:sp>
      <p:sp>
        <p:nvSpPr>
          <p:cNvPr id="9" name="stress recall card"/>
          <p:cNvSpPr/>
          <p:nvPr/>
        </p:nvSpPr>
        <p:spPr>
          <a:xfrm>
            <a:off x="7680960" y="3749040"/>
            <a:ext cx="3931920" cy="2377440"/>
          </a:xfrm>
          <a:prstGeom prst="roundRect">
            <a:avLst>
              <a:gd name="adj" fmla="val 4615"/>
            </a:avLst>
          </a:prstGeom>
          <a:solidFill>
            <a:schemeClr val="tx2"/>
          </a:solidFill>
          <a:ln w="9525">
            <a:solidFill>
              <a:schemeClr val="accent6"/>
            </a:solidFill>
            <a:prstDash val="solid"/>
          </a:ln>
        </p:spPr>
      </p:sp>
      <p:sp>
        <p:nvSpPr>
          <p:cNvPr id="10" name="stress limitation circle"/>
          <p:cNvSpPr/>
          <p:nvPr/>
        </p:nvSpPr>
        <p:spPr>
          <a:xfrm>
            <a:off x="7955280" y="3977640"/>
            <a:ext cx="548640" cy="548640"/>
          </a:xfrm>
          <a:prstGeom prst="ellipse">
            <a:avLst/>
          </a:prstGeom>
          <a:solidFill>
            <a:schemeClr val="accent4">
              <a:alpha val="18000"/>
            </a:schemeClr>
          </a:solidFill>
          <a:ln/>
        </p:spPr>
      </p:sp>
      <p:pic>
        <p:nvPicPr>
          <p:cNvPr id="11" name="stress limitation icon" descr="preencoded.png">    </p:cNvPr>
          <p:cNvPicPr>
            <a:picLocks noChangeAspect="1"/>
          </p:cNvPicPr>
          <p:nvPr/>
        </p:nvPicPr>
        <p:blipFill>
          <a:blip r:embed="rId2"/>
          <a:stretch>
            <a:fillRect/>
          </a:stretch>
        </p:blipFill>
        <p:spPr>
          <a:xfrm>
            <a:off x="8092440" y="4114800"/>
            <a:ext cx="274320" cy="274320"/>
          </a:xfrm>
          <a:prstGeom prst="rect">
            <a:avLst/>
          </a:prstGeom>
        </p:spPr>
      </p:pic>
      <p:sp>
        <p:nvSpPr>
          <p:cNvPr id="12" name="Text 8"/>
          <p:cNvSpPr txBox="1"/>
          <p:nvPr/>
        </p:nvSpPr>
        <p:spPr>
          <a:xfrm>
            <a:off x="8641080" y="4050792"/>
            <a:ext cx="2743200" cy="365760"/>
          </a:xfrm>
          <a:prstGeom prst="rect">
            <a:avLst/>
          </a:prstGeom>
          <a:noFill/>
          <a:ln/>
        </p:spPr>
        <p:txBody>
          <a:bodyPr wrap="square" lIns="0" tIns="0" rIns="0" bIns="0" rtlCol="0" anchor="ctr"/>
          <a:lstStyle/>
          <a:p>
            <a:pPr indent="0" marL="0">
              <a:buNone/>
            </a:pPr>
            <a:r>
              <a:rPr lang="en-US" sz="1600" b="1" dirty="0">
                <a:solidFill>
                  <a:schemeClr val="accent4"/>
                </a:solidFill>
              </a:rPr>
              <a:t>Main limitation</a:t>
            </a:r>
            <a:endParaRPr lang="en-US" sz="1600" dirty="0"/>
          </a:p>
        </p:txBody>
      </p:sp>
      <p:sp>
        <p:nvSpPr>
          <p:cNvPr id="13" name="Text 9"/>
          <p:cNvSpPr txBox="1"/>
          <p:nvPr/>
        </p:nvSpPr>
        <p:spPr>
          <a:xfrm>
            <a:off x="7955280" y="4617720"/>
            <a:ext cx="3520440" cy="1417320"/>
          </a:xfrm>
          <a:prstGeom prst="rect">
            <a:avLst/>
          </a:prstGeom>
          <a:noFill/>
          <a:ln/>
        </p:spPr>
        <p:txBody>
          <a:bodyPr wrap="square" lIns="0" tIns="0" rIns="0" bIns="0" rtlCol="0" anchor="t"/>
          <a:lstStyle/>
          <a:p>
            <a:pPr indent="0" marL="0">
              <a:buNone/>
            </a:pPr>
            <a:r>
              <a:rPr lang="en-US" sz="1300" dirty="0">
                <a:solidFill>
                  <a:schemeClr val="bg1"/>
                </a:solidFill>
              </a:rPr>
              <a:t>Answer recall: dense RAG 0.44, BM25 0.38, SketchRAG gate 0.23 (256 cells). With thousands of unrelated documents sharing a few hundred cells, a centroid is too blunt a key.</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AGAINST EM-LLM</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Same model, same 120 questions: within a point of EM-LLM</a:t>
            </a:r>
            <a:endParaRPr lang="en-US" sz="3400" dirty="0"/>
          </a:p>
        </p:txBody>
      </p:sp>
      <p:graphicFrame>
        <p:nvGraphicFramePr>
          <p:cNvPr id="4" name="Chart 0" descr=""/>
          <p:cNvGraphicFramePr/>
          <p:nvPr/>
        </p:nvGraphicFramePr>
        <p:xfrm>
          <a:off x="548640" y="160020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5" name="emllm compare card"/>
          <p:cNvSpPr/>
          <p:nvPr/>
        </p:nvSpPr>
        <p:spPr>
          <a:xfrm>
            <a:off x="7680960" y="1691640"/>
            <a:ext cx="3931920" cy="1920240"/>
          </a:xfrm>
          <a:prstGeom prst="roundRect">
            <a:avLst>
              <a:gd name="adj" fmla="val 5714"/>
            </a:avLst>
          </a:prstGeom>
          <a:solidFill>
            <a:schemeClr val="tx2"/>
          </a:solidFill>
          <a:ln w="9525">
            <a:solidFill>
              <a:schemeClr val="accent6"/>
            </a:solidFill>
            <a:prstDash val="solid"/>
          </a:ln>
        </p:spPr>
      </p:sp>
      <p:sp>
        <p:nvSpPr>
          <p:cNvPr id="6" name="Text 3"/>
          <p:cNvSpPr txBox="1"/>
          <p:nvPr/>
        </p:nvSpPr>
        <p:spPr>
          <a:xfrm>
            <a:off x="7955280" y="1920240"/>
            <a:ext cx="3474720" cy="731520"/>
          </a:xfrm>
          <a:prstGeom prst="rect">
            <a:avLst/>
          </a:prstGeom>
          <a:noFill/>
          <a:ln/>
        </p:spPr>
        <p:txBody>
          <a:bodyPr wrap="square" lIns="0" tIns="0" rIns="0" bIns="0" rtlCol="0" anchor="ctr"/>
          <a:lstStyle/>
          <a:p>
            <a:pPr indent="0" marL="0">
              <a:buNone/>
            </a:pPr>
            <a:r>
              <a:rPr lang="en-US" sz="4000" b="1" dirty="0">
                <a:solidFill>
                  <a:schemeClr val="accent1"/>
                </a:solidFill>
              </a:rPr>
              <a:t>34.8</a:t>
            </a:r>
            <a:pPr indent="0" marL="0">
              <a:buNone/>
            </a:pPr>
            <a:r>
              <a:rPr lang="en-US" sz="2400" b="1" dirty="0">
                <a:solidFill>
                  <a:schemeClr val="bg2"/>
                </a:solidFill>
              </a:rPr>
              <a:t>  vs  </a:t>
            </a:r>
            <a:pPr indent="0" marL="0">
              <a:buNone/>
            </a:pPr>
            <a:r>
              <a:rPr lang="en-US" sz="4000" b="1" dirty="0">
                <a:solidFill>
                  <a:schemeClr val="accent5"/>
                </a:solidFill>
              </a:rPr>
              <a:t>34.5</a:t>
            </a:r>
            <a:endParaRPr lang="en-US" sz="4000" dirty="0"/>
          </a:p>
        </p:txBody>
      </p:sp>
      <p:sp>
        <p:nvSpPr>
          <p:cNvPr id="7" name="Text 4"/>
          <p:cNvSpPr txBox="1"/>
          <p:nvPr/>
        </p:nvSpPr>
        <p:spPr>
          <a:xfrm>
            <a:off x="7955280" y="2651760"/>
            <a:ext cx="3474720" cy="914400"/>
          </a:xfrm>
          <a:prstGeom prst="rect">
            <a:avLst/>
          </a:prstGeom>
          <a:noFill/>
          <a:ln/>
        </p:spPr>
        <p:txBody>
          <a:bodyPr wrap="square" lIns="0" tIns="0" rIns="0" bIns="0" rtlCol="0" anchor="t"/>
          <a:lstStyle/>
          <a:p>
            <a:pPr indent="0" marL="0">
              <a:buNone/>
            </a:pPr>
            <a:r>
              <a:rPr lang="en-US" sz="1300" dirty="0">
                <a:solidFill>
                  <a:schemeClr val="bg1"/>
                </a:solidFill>
              </a:rPr>
              <a:t>SketchRAG gate vs EM-LLM's official code. SketchRAG needs one generation per question instead of streaming the whole document through the model.</a:t>
            </a:r>
            <a:endParaRPr lang="en-US" sz="1300" dirty="0"/>
          </a:p>
        </p:txBody>
      </p:sp>
      <p:sp>
        <p:nvSpPr>
          <p:cNvPr id="8" name="emllm caveat card"/>
          <p:cNvSpPr/>
          <p:nvPr/>
        </p:nvSpPr>
        <p:spPr>
          <a:xfrm>
            <a:off x="7680960" y="3840480"/>
            <a:ext cx="3931920" cy="2286000"/>
          </a:xfrm>
          <a:prstGeom prst="roundRect">
            <a:avLst>
              <a:gd name="adj" fmla="val 4800"/>
            </a:avLst>
          </a:prstGeom>
          <a:solidFill>
            <a:schemeClr val="tx2"/>
          </a:solidFill>
          <a:ln w="9525">
            <a:solidFill>
              <a:schemeClr val="accent6"/>
            </a:solidFill>
            <a:prstDash val="solid"/>
          </a:ln>
        </p:spPr>
      </p:sp>
      <p:sp>
        <p:nvSpPr>
          <p:cNvPr id="9" name="Text 6"/>
          <p:cNvSpPr txBox="1"/>
          <p:nvPr/>
        </p:nvSpPr>
        <p:spPr>
          <a:xfrm>
            <a:off x="7955280" y="4023360"/>
            <a:ext cx="3474720" cy="365760"/>
          </a:xfrm>
          <a:prstGeom prst="rect">
            <a:avLst/>
          </a:prstGeom>
          <a:noFill/>
          <a:ln/>
        </p:spPr>
        <p:txBody>
          <a:bodyPr wrap="square" lIns="0" tIns="0" rIns="0" bIns="0" rtlCol="0" anchor="ctr"/>
          <a:lstStyle/>
          <a:p>
            <a:pPr indent="0" marL="0">
              <a:buNone/>
            </a:pPr>
            <a:r>
              <a:rPr lang="en-US" sz="1600" b="1" dirty="0">
                <a:solidFill>
                  <a:schemeClr val="accent4"/>
                </a:solidFill>
              </a:rPr>
              <a:t>Caveats</a:t>
            </a:r>
            <a:endParaRPr lang="en-US" sz="1600" dirty="0"/>
          </a:p>
        </p:txBody>
      </p:sp>
      <p:sp>
        <p:nvSpPr>
          <p:cNvPr id="10" name="Text 7"/>
          <p:cNvSpPr txBox="1"/>
          <p:nvPr/>
        </p:nvSpPr>
        <p:spPr>
          <a:xfrm>
            <a:off x="7955280" y="4434840"/>
            <a:ext cx="3520440" cy="16002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1"/>
                </a:solidFill>
              </a:rPr>
              <a:t>EM-LLM ran in fp16; our Phi-3.5 is Ollama's quantised build</a:t>
            </a:r>
            <a:endParaRPr lang="en-US" sz="1300" dirty="0"/>
          </a:p>
          <a:p>
            <a:pPr marL="342900" indent="-342900">
              <a:spcAft>
                <a:spcPts val="400"/>
              </a:spcAft>
              <a:buSzPct val="100000"/>
              <a:buChar char="•"/>
            </a:pPr>
            <a:r>
              <a:rPr lang="en-US" sz="1300" dirty="0">
                <a:solidFill>
                  <a:schemeClr val="bg1"/>
                </a:solidFill>
              </a:rPr>
              <a:t>Reduced scale on Kaggle 2×T4: 6 of 9 planned tasks</a:t>
            </a:r>
            <a:endParaRPr lang="en-US" sz="1300" dirty="0"/>
          </a:p>
          <a:p>
            <a:pPr marL="342900" indent="-342900">
              <a:spcAft>
                <a:spcPts val="400"/>
              </a:spcAft>
              <a:buSzPct val="100000"/>
              <a:buChar char="•"/>
            </a:pPr>
            <a:r>
              <a:rPr lang="en-US" sz="1300" dirty="0">
                <a:solidFill>
                  <a:schemeClr val="bg1"/>
                </a:solidFill>
              </a:rPr>
              <a:t>Full context is highest here (37.7)</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LIVE DEMO</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An agent monitoring a feed, answering live on a laptop</a:t>
            </a:r>
            <a:endParaRPr lang="en-US" sz="3400" dirty="0"/>
          </a:p>
        </p:txBody>
      </p:sp>
      <p:pic>
        <p:nvPicPr>
          <p:cNvPr id="4" name="demo query screenshot" descr="C:\Users\ADMIN\sketchrag\report\slides\img\demo_query.png">    </p:cNvPr>
          <p:cNvPicPr>
            <a:picLocks noChangeAspect="1"/>
          </p:cNvPicPr>
          <p:nvPr/>
        </p:nvPicPr>
        <p:blipFill>
          <a:blip r:embed="rId1"/>
          <a:stretch>
            <a:fillRect/>
          </a:stretch>
        </p:blipFill>
        <p:spPr>
          <a:xfrm>
            <a:off x="548640" y="1554480"/>
            <a:ext cx="6437376" cy="4023360"/>
          </a:xfrm>
          <a:prstGeom prst="rect">
            <a:avLst/>
          </a:prstGeom>
        </p:spPr>
      </p:pic>
      <p:sp>
        <p:nvSpPr>
          <p:cNvPr id="5" name="demo screenshot frame"/>
          <p:cNvSpPr/>
          <p:nvPr/>
        </p:nvSpPr>
        <p:spPr>
          <a:xfrm>
            <a:off x="548640" y="1554480"/>
            <a:ext cx="6437376" cy="4023360"/>
          </a:xfrm>
          <a:prstGeom prst="rect">
            <a:avLst/>
          </a:prstGeom>
          <a:ln w="12700">
            <a:solidFill>
              <a:schemeClr val="accent6"/>
            </a:solidFill>
            <a:prstDash val="solid"/>
          </a:ln>
        </p:spPr>
      </p:sp>
      <p:sp>
        <p:nvSpPr>
          <p:cNvPr id="6" name="demo 1 circle"/>
          <p:cNvSpPr/>
          <p:nvPr/>
        </p:nvSpPr>
        <p:spPr>
          <a:xfrm>
            <a:off x="7498080" y="1645920"/>
            <a:ext cx="640080" cy="640080"/>
          </a:xfrm>
          <a:prstGeom prst="ellipse">
            <a:avLst/>
          </a:prstGeom>
          <a:solidFill>
            <a:schemeClr val="accent1">
              <a:alpha val="18000"/>
            </a:schemeClr>
          </a:solidFill>
          <a:ln/>
        </p:spPr>
      </p:sp>
      <p:pic>
        <p:nvPicPr>
          <p:cNvPr id="7" name="demo 1 icon" descr="preencoded.png">    </p:cNvPr>
          <p:cNvPicPr>
            <a:picLocks noChangeAspect="1"/>
          </p:cNvPicPr>
          <p:nvPr/>
        </p:nvPicPr>
        <p:blipFill>
          <a:blip r:embed="rId2"/>
          <a:stretch>
            <a:fillRect/>
          </a:stretch>
        </p:blipFill>
        <p:spPr>
          <a:xfrm>
            <a:off x="7658100" y="1805940"/>
            <a:ext cx="320040" cy="320040"/>
          </a:xfrm>
          <a:prstGeom prst="rect">
            <a:avLst/>
          </a:prstGeom>
        </p:spPr>
      </p:pic>
      <p:sp>
        <p:nvSpPr>
          <p:cNvPr id="8" name="Text 4"/>
          <p:cNvSpPr txBox="1"/>
          <p:nvPr/>
        </p:nvSpPr>
        <p:spPr>
          <a:xfrm>
            <a:off x="8321040" y="1664208"/>
            <a:ext cx="3291840" cy="347472"/>
          </a:xfrm>
          <a:prstGeom prst="rect">
            <a:avLst/>
          </a:prstGeom>
          <a:noFill/>
          <a:ln/>
        </p:spPr>
        <p:txBody>
          <a:bodyPr wrap="square" lIns="0" tIns="0" rIns="0" bIns="0" rtlCol="0" anchor="ctr"/>
          <a:lstStyle/>
          <a:p>
            <a:pPr indent="0" marL="0">
              <a:buNone/>
            </a:pPr>
            <a:r>
              <a:rPr lang="en-US" sz="1700" b="1" dirty="0">
                <a:solidFill>
                  <a:schemeClr val="accent1"/>
                </a:solidFill>
              </a:rPr>
              <a:t>Feed</a:t>
            </a:r>
            <a:endParaRPr lang="en-US" sz="1700" dirty="0"/>
          </a:p>
        </p:txBody>
      </p:sp>
      <p:sp>
        <p:nvSpPr>
          <p:cNvPr id="9" name="Text 5"/>
          <p:cNvSpPr txBox="1"/>
          <p:nvPr/>
        </p:nvSpPr>
        <p:spPr>
          <a:xfrm>
            <a:off x="8321040" y="2029968"/>
            <a:ext cx="3291840" cy="868680"/>
          </a:xfrm>
          <a:prstGeom prst="rect">
            <a:avLst/>
          </a:prstGeom>
          <a:noFill/>
          <a:ln/>
        </p:spPr>
        <p:txBody>
          <a:bodyPr wrap="square" lIns="0" tIns="0" rIns="0" bIns="0" rtlCol="0" anchor="t"/>
          <a:lstStyle/>
          <a:p>
            <a:pPr indent="0" marL="0">
              <a:buNone/>
            </a:pPr>
            <a:r>
              <a:rPr lang="en-US" sz="1300" dirty="0">
                <a:solidFill>
                  <a:schemeClr val="bg1"/>
                </a:solidFill>
              </a:rPr>
              <a:t>58 LongBench documents (≈ 400k words) stream into a 256-cell memory</a:t>
            </a:r>
            <a:endParaRPr lang="en-US" sz="1300" dirty="0"/>
          </a:p>
        </p:txBody>
      </p:sp>
      <p:sp>
        <p:nvSpPr>
          <p:cNvPr id="10" name="demo 2 circle"/>
          <p:cNvSpPr/>
          <p:nvPr/>
        </p:nvSpPr>
        <p:spPr>
          <a:xfrm>
            <a:off x="7498080" y="3017520"/>
            <a:ext cx="640080" cy="640080"/>
          </a:xfrm>
          <a:prstGeom prst="ellipse">
            <a:avLst/>
          </a:prstGeom>
          <a:solidFill>
            <a:schemeClr val="accent1">
              <a:alpha val="18000"/>
            </a:schemeClr>
          </a:solidFill>
          <a:ln/>
        </p:spPr>
      </p:sp>
      <p:pic>
        <p:nvPicPr>
          <p:cNvPr id="11" name="demo 2 icon" descr="preencoded.png">    </p:cNvPr>
          <p:cNvPicPr>
            <a:picLocks noChangeAspect="1"/>
          </p:cNvPicPr>
          <p:nvPr/>
        </p:nvPicPr>
        <p:blipFill>
          <a:blip r:embed="rId3"/>
          <a:stretch>
            <a:fillRect/>
          </a:stretch>
        </p:blipFill>
        <p:spPr>
          <a:xfrm>
            <a:off x="7658100" y="3177540"/>
            <a:ext cx="320040" cy="320040"/>
          </a:xfrm>
          <a:prstGeom prst="rect">
            <a:avLst/>
          </a:prstGeom>
        </p:spPr>
      </p:pic>
      <p:sp>
        <p:nvSpPr>
          <p:cNvPr id="12" name="Text 7"/>
          <p:cNvSpPr txBox="1"/>
          <p:nvPr/>
        </p:nvSpPr>
        <p:spPr>
          <a:xfrm>
            <a:off x="8321040" y="3035808"/>
            <a:ext cx="3291840" cy="347472"/>
          </a:xfrm>
          <a:prstGeom prst="rect">
            <a:avLst/>
          </a:prstGeom>
          <a:noFill/>
          <a:ln/>
        </p:spPr>
        <p:txBody>
          <a:bodyPr wrap="square" lIns="0" tIns="0" rIns="0" bIns="0" rtlCol="0" anchor="ctr"/>
          <a:lstStyle/>
          <a:p>
            <a:pPr indent="0" marL="0">
              <a:buNone/>
            </a:pPr>
            <a:r>
              <a:rPr lang="en-US" sz="1700" b="1" dirty="0">
                <a:solidFill>
                  <a:schemeClr val="accent1"/>
                </a:solidFill>
              </a:rPr>
              <a:t>Ask</a:t>
            </a:r>
            <a:endParaRPr lang="en-US" sz="1700" dirty="0"/>
          </a:p>
        </p:txBody>
      </p:sp>
      <p:sp>
        <p:nvSpPr>
          <p:cNvPr id="13" name="Text 8"/>
          <p:cNvSpPr txBox="1"/>
          <p:nvPr/>
        </p:nvSpPr>
        <p:spPr>
          <a:xfrm>
            <a:off x="8321040" y="3401568"/>
            <a:ext cx="3291840" cy="868680"/>
          </a:xfrm>
          <a:prstGeom prst="rect">
            <a:avLst/>
          </a:prstGeom>
          <a:noFill/>
          <a:ln/>
        </p:spPr>
        <p:txBody>
          <a:bodyPr wrap="square" lIns="0" tIns="0" rIns="0" bIns="0" rtlCol="0" anchor="t"/>
          <a:lstStyle/>
          <a:p>
            <a:pPr indent="0" marL="0">
              <a:buNone/>
            </a:pPr>
            <a:r>
              <a:rPr lang="en-US" sz="1300" dirty="0">
                <a:solidFill>
                  <a:schemeClr val="bg1"/>
                </a:solidFill>
              </a:rPr>
              <a:t>the trace shows ranking, the gate's verdict per cell and the raw chunks it read</a:t>
            </a:r>
            <a:endParaRPr lang="en-US" sz="1300" dirty="0"/>
          </a:p>
        </p:txBody>
      </p:sp>
      <p:sp>
        <p:nvSpPr>
          <p:cNvPr id="14" name="demo 3 circle"/>
          <p:cNvSpPr/>
          <p:nvPr/>
        </p:nvSpPr>
        <p:spPr>
          <a:xfrm>
            <a:off x="7498080" y="4389120"/>
            <a:ext cx="640080" cy="640080"/>
          </a:xfrm>
          <a:prstGeom prst="ellipse">
            <a:avLst/>
          </a:prstGeom>
          <a:solidFill>
            <a:schemeClr val="accent1">
              <a:alpha val="18000"/>
            </a:schemeClr>
          </a:solidFill>
          <a:ln/>
        </p:spPr>
      </p:sp>
      <p:pic>
        <p:nvPicPr>
          <p:cNvPr id="15" name="demo 3 icon" descr="preencoded.png">    </p:cNvPr>
          <p:cNvPicPr>
            <a:picLocks noChangeAspect="1"/>
          </p:cNvPicPr>
          <p:nvPr/>
        </p:nvPicPr>
        <p:blipFill>
          <a:blip r:embed="rId4"/>
          <a:stretch>
            <a:fillRect/>
          </a:stretch>
        </p:blipFill>
        <p:spPr>
          <a:xfrm>
            <a:off x="7658100" y="4549140"/>
            <a:ext cx="320040" cy="320040"/>
          </a:xfrm>
          <a:prstGeom prst="rect">
            <a:avLst/>
          </a:prstGeom>
        </p:spPr>
      </p:pic>
      <p:sp>
        <p:nvSpPr>
          <p:cNvPr id="16" name="Text 10"/>
          <p:cNvSpPr txBox="1"/>
          <p:nvPr/>
        </p:nvSpPr>
        <p:spPr>
          <a:xfrm>
            <a:off x="8321040" y="4407408"/>
            <a:ext cx="3291840" cy="347472"/>
          </a:xfrm>
          <a:prstGeom prst="rect">
            <a:avLst/>
          </a:prstGeom>
          <a:noFill/>
          <a:ln/>
        </p:spPr>
        <p:txBody>
          <a:bodyPr wrap="square" lIns="0" tIns="0" rIns="0" bIns="0" rtlCol="0" anchor="ctr"/>
          <a:lstStyle/>
          <a:p>
            <a:pPr indent="0" marL="0">
              <a:buNone/>
            </a:pPr>
            <a:r>
              <a:rPr lang="en-US" sz="1700" b="1" dirty="0">
                <a:solidFill>
                  <a:schemeClr val="accent1"/>
                </a:solidFill>
              </a:rPr>
              <a:t>Answer</a:t>
            </a:r>
            <a:endParaRPr lang="en-US" sz="1700" dirty="0"/>
          </a:p>
        </p:txBody>
      </p:sp>
      <p:sp>
        <p:nvSpPr>
          <p:cNvPr id="17" name="Text 11"/>
          <p:cNvSpPr txBox="1"/>
          <p:nvPr/>
        </p:nvSpPr>
        <p:spPr>
          <a:xfrm>
            <a:off x="8321040" y="4773168"/>
            <a:ext cx="3291840" cy="868680"/>
          </a:xfrm>
          <a:prstGeom prst="rect">
            <a:avLst/>
          </a:prstGeom>
          <a:noFill/>
          <a:ln/>
        </p:spPr>
        <p:txBody>
          <a:bodyPr wrap="square" lIns="0" tIns="0" rIns="0" bIns="0" rtlCol="0" anchor="t"/>
          <a:lstStyle/>
          <a:p>
            <a:pPr indent="0" marL="0">
              <a:buNone/>
            </a:pPr>
            <a:r>
              <a:rPr lang="en-US" sz="1300" dirty="0">
                <a:solidFill>
                  <a:schemeClr val="bg1"/>
                </a:solidFill>
              </a:rPr>
              <a:t>llama3.2:3b via Ollama on the CPU, streamed in ≈ 30–60 s, checked against the known answer</a:t>
            </a:r>
            <a:endParaRPr lang="en-US" sz="1300" dirty="0"/>
          </a:p>
        </p:txBody>
      </p:sp>
      <p:sp>
        <p:nvSpPr>
          <p:cNvPr id="18" name="Text 12"/>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1200" dirty="0">
                <a:solidFill>
                  <a:schemeClr val="bg2"/>
                </a:solidFill>
              </a:rPr>
              <a:t>Live run shown: "Where was the father of Teobaldo II Ordelaffi born?" → Italy (matches the known answer). Feed-wide, the gate's context holds the answer for 27% of questions (dense 25%).</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LIMITATIONS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What SketchRAG does not solve yet</a:t>
            </a:r>
            <a:endParaRPr lang="en-US" sz="3400" dirty="0"/>
          </a:p>
        </p:txBody>
      </p:sp>
      <p:sp>
        <p:nvSpPr>
          <p:cNvPr id="4" name="limitation card 1"/>
          <p:cNvSpPr/>
          <p:nvPr/>
        </p:nvSpPr>
        <p:spPr>
          <a:xfrm>
            <a:off x="548640" y="1783080"/>
            <a:ext cx="5440680" cy="1828800"/>
          </a:xfrm>
          <a:prstGeom prst="roundRect">
            <a:avLst>
              <a:gd name="adj" fmla="val 6000"/>
            </a:avLst>
          </a:prstGeom>
          <a:solidFill>
            <a:schemeClr val="tx2"/>
          </a:solidFill>
          <a:ln w="9525">
            <a:solidFill>
              <a:schemeClr val="accent6"/>
            </a:solidFill>
            <a:prstDash val="solid"/>
          </a:ln>
        </p:spPr>
      </p:sp>
      <p:sp>
        <p:nvSpPr>
          <p:cNvPr id="5" name="limitation 1 circle"/>
          <p:cNvSpPr/>
          <p:nvPr/>
        </p:nvSpPr>
        <p:spPr>
          <a:xfrm>
            <a:off x="822960" y="2103120"/>
            <a:ext cx="731520" cy="731520"/>
          </a:xfrm>
          <a:prstGeom prst="ellipse">
            <a:avLst/>
          </a:prstGeom>
          <a:solidFill>
            <a:schemeClr val="accent4">
              <a:alpha val="18000"/>
            </a:schemeClr>
          </a:solidFill>
          <a:ln/>
        </p:spPr>
      </p:sp>
      <p:pic>
        <p:nvPicPr>
          <p:cNvPr id="6" name="limitation 1 icon" descr="preencoded.png">    </p:cNvPr>
          <p:cNvPicPr>
            <a:picLocks noChangeAspect="1"/>
          </p:cNvPicPr>
          <p:nvPr/>
        </p:nvPicPr>
        <p:blipFill>
          <a:blip r:embed="rId1"/>
          <a:stretch>
            <a:fillRect/>
          </a:stretch>
        </p:blipFill>
        <p:spPr>
          <a:xfrm>
            <a:off x="1005840" y="2286000"/>
            <a:ext cx="365760" cy="365760"/>
          </a:xfrm>
          <a:prstGeom prst="rect">
            <a:avLst/>
          </a:prstGeom>
        </p:spPr>
      </p:pic>
      <p:sp>
        <p:nvSpPr>
          <p:cNvPr id="7" name="Text 4"/>
          <p:cNvSpPr txBox="1"/>
          <p:nvPr/>
        </p:nvSpPr>
        <p:spPr>
          <a:xfrm>
            <a:off x="1783080" y="2075688"/>
            <a:ext cx="4023360" cy="411480"/>
          </a:xfrm>
          <a:prstGeom prst="rect">
            <a:avLst/>
          </a:prstGeom>
          <a:noFill/>
          <a:ln/>
        </p:spPr>
        <p:txBody>
          <a:bodyPr wrap="square" lIns="0" tIns="0" rIns="0" bIns="0" rtlCol="0" anchor="ctr"/>
          <a:lstStyle/>
          <a:p>
            <a:pPr indent="0" marL="0">
              <a:buNone/>
            </a:pPr>
            <a:r>
              <a:rPr lang="en-US" sz="1900" b="1" dirty="0">
                <a:solidFill>
                  <a:schemeClr val="accent4"/>
                </a:solidFill>
              </a:rPr>
              <a:t>BM25 is still stronger</a:t>
            </a:r>
            <a:endParaRPr lang="en-US" sz="1900" dirty="0"/>
          </a:p>
        </p:txBody>
      </p:sp>
      <p:sp>
        <p:nvSpPr>
          <p:cNvPr id="8" name="Text 5"/>
          <p:cNvSpPr txBox="1"/>
          <p:nvPr/>
        </p:nvSpPr>
        <p:spPr>
          <a:xfrm>
            <a:off x="1783080" y="2532888"/>
            <a:ext cx="4023360" cy="960120"/>
          </a:xfrm>
          <a:prstGeom prst="rect">
            <a:avLst/>
          </a:prstGeom>
          <a:noFill/>
          <a:ln/>
        </p:spPr>
        <p:txBody>
          <a:bodyPr wrap="square" lIns="0" tIns="0" rIns="0" bIns="0" rtlCol="0" anchor="t"/>
          <a:lstStyle/>
          <a:p>
            <a:pPr indent="0" marL="0">
              <a:buNone/>
            </a:pPr>
            <a:r>
              <a:rPr lang="en-US" sz="1350" dirty="0">
                <a:solidFill>
                  <a:schemeClr val="bg1"/>
                </a:solidFill>
              </a:rPr>
              <a:t>A plain lexical baseline scores 46.0 vs 41.7; these benchmarks reward exact string matches.</a:t>
            </a:r>
            <a:endParaRPr lang="en-US" sz="1350" dirty="0"/>
          </a:p>
        </p:txBody>
      </p:sp>
      <p:sp>
        <p:nvSpPr>
          <p:cNvPr id="9" name="limitation card 2"/>
          <p:cNvSpPr/>
          <p:nvPr/>
        </p:nvSpPr>
        <p:spPr>
          <a:xfrm>
            <a:off x="6172200" y="1783080"/>
            <a:ext cx="5440680" cy="1828800"/>
          </a:xfrm>
          <a:prstGeom prst="roundRect">
            <a:avLst>
              <a:gd name="adj" fmla="val 6000"/>
            </a:avLst>
          </a:prstGeom>
          <a:solidFill>
            <a:schemeClr val="tx2"/>
          </a:solidFill>
          <a:ln w="9525">
            <a:solidFill>
              <a:schemeClr val="accent6"/>
            </a:solidFill>
            <a:prstDash val="solid"/>
          </a:ln>
        </p:spPr>
      </p:sp>
      <p:sp>
        <p:nvSpPr>
          <p:cNvPr id="10" name="limitation 2 circle"/>
          <p:cNvSpPr/>
          <p:nvPr/>
        </p:nvSpPr>
        <p:spPr>
          <a:xfrm>
            <a:off x="6446520" y="2103120"/>
            <a:ext cx="731520" cy="731520"/>
          </a:xfrm>
          <a:prstGeom prst="ellipse">
            <a:avLst/>
          </a:prstGeom>
          <a:solidFill>
            <a:schemeClr val="accent4">
              <a:alpha val="18000"/>
            </a:schemeClr>
          </a:solidFill>
          <a:ln/>
        </p:spPr>
      </p:sp>
      <p:pic>
        <p:nvPicPr>
          <p:cNvPr id="11" name="limitation 2 icon" descr="preencoded.png">    </p:cNvPr>
          <p:cNvPicPr>
            <a:picLocks noChangeAspect="1"/>
          </p:cNvPicPr>
          <p:nvPr/>
        </p:nvPicPr>
        <p:blipFill>
          <a:blip r:embed="rId2"/>
          <a:stretch>
            <a:fillRect/>
          </a:stretch>
        </p:blipFill>
        <p:spPr>
          <a:xfrm>
            <a:off x="6629400" y="2286000"/>
            <a:ext cx="365760" cy="365760"/>
          </a:xfrm>
          <a:prstGeom prst="rect">
            <a:avLst/>
          </a:prstGeom>
        </p:spPr>
      </p:pic>
      <p:sp>
        <p:nvSpPr>
          <p:cNvPr id="12" name="Text 8"/>
          <p:cNvSpPr txBox="1"/>
          <p:nvPr/>
        </p:nvSpPr>
        <p:spPr>
          <a:xfrm>
            <a:off x="7406640" y="2075688"/>
            <a:ext cx="4023360" cy="411480"/>
          </a:xfrm>
          <a:prstGeom prst="rect">
            <a:avLst/>
          </a:prstGeom>
          <a:noFill/>
          <a:ln/>
        </p:spPr>
        <p:txBody>
          <a:bodyPr wrap="square" lIns="0" tIns="0" rIns="0" bIns="0" rtlCol="0" anchor="ctr"/>
          <a:lstStyle/>
          <a:p>
            <a:pPr indent="0" marL="0">
              <a:buNone/>
            </a:pPr>
            <a:r>
              <a:rPr lang="en-US" sz="1900" b="1" dirty="0">
                <a:solidFill>
                  <a:schemeClr val="accent4"/>
                </a:solidFill>
              </a:rPr>
              <a:t>Multi-hop questions</a:t>
            </a:r>
            <a:endParaRPr lang="en-US" sz="1900" dirty="0"/>
          </a:p>
        </p:txBody>
      </p:sp>
      <p:sp>
        <p:nvSpPr>
          <p:cNvPr id="13" name="Text 9"/>
          <p:cNvSpPr txBox="1"/>
          <p:nvPr/>
        </p:nvSpPr>
        <p:spPr>
          <a:xfrm>
            <a:off x="7406640" y="2532888"/>
            <a:ext cx="4023360" cy="960120"/>
          </a:xfrm>
          <a:prstGeom prst="rect">
            <a:avLst/>
          </a:prstGeom>
          <a:noFill/>
          <a:ln/>
        </p:spPr>
        <p:txBody>
          <a:bodyPr wrap="square" lIns="0" tIns="0" rIns="0" bIns="0" rtlCol="0" anchor="t"/>
          <a:lstStyle/>
          <a:p>
            <a:pPr indent="0" marL="0">
              <a:buNone/>
            </a:pPr>
            <a:r>
              <a:rPr lang="en-US" sz="1350" dirty="0">
                <a:solidFill>
                  <a:schemeClr val="bg1"/>
                </a:solidFill>
              </a:rPr>
              <a:t>On 2WikiMQA the gate scores 33.3 vs 51.9 (SARA-lite) and 58.7 (full context): evidence spread over many chunks does not fit in 4 cells.</a:t>
            </a:r>
            <a:endParaRPr lang="en-US" sz="1350" dirty="0"/>
          </a:p>
        </p:txBody>
      </p:sp>
      <p:sp>
        <p:nvSpPr>
          <p:cNvPr id="14" name="limitation card 3"/>
          <p:cNvSpPr/>
          <p:nvPr/>
        </p:nvSpPr>
        <p:spPr>
          <a:xfrm>
            <a:off x="548640" y="3840480"/>
            <a:ext cx="5440680" cy="1828800"/>
          </a:xfrm>
          <a:prstGeom prst="roundRect">
            <a:avLst>
              <a:gd name="adj" fmla="val 6000"/>
            </a:avLst>
          </a:prstGeom>
          <a:solidFill>
            <a:schemeClr val="tx2"/>
          </a:solidFill>
          <a:ln w="9525">
            <a:solidFill>
              <a:schemeClr val="accent6"/>
            </a:solidFill>
            <a:prstDash val="solid"/>
          </a:ln>
        </p:spPr>
      </p:sp>
      <p:sp>
        <p:nvSpPr>
          <p:cNvPr id="15" name="limitation 3 circle"/>
          <p:cNvSpPr/>
          <p:nvPr/>
        </p:nvSpPr>
        <p:spPr>
          <a:xfrm>
            <a:off x="822960" y="4160520"/>
            <a:ext cx="731520" cy="731520"/>
          </a:xfrm>
          <a:prstGeom prst="ellipse">
            <a:avLst/>
          </a:prstGeom>
          <a:solidFill>
            <a:schemeClr val="accent4">
              <a:alpha val="18000"/>
            </a:schemeClr>
          </a:solidFill>
          <a:ln/>
        </p:spPr>
      </p:sp>
      <p:pic>
        <p:nvPicPr>
          <p:cNvPr id="16" name="limitation 3 icon" descr="preencoded.png">    </p:cNvPr>
          <p:cNvPicPr>
            <a:picLocks noChangeAspect="1"/>
          </p:cNvPicPr>
          <p:nvPr/>
        </p:nvPicPr>
        <p:blipFill>
          <a:blip r:embed="rId3"/>
          <a:stretch>
            <a:fillRect/>
          </a:stretch>
        </p:blipFill>
        <p:spPr>
          <a:xfrm>
            <a:off x="1005840" y="4343400"/>
            <a:ext cx="365760" cy="365760"/>
          </a:xfrm>
          <a:prstGeom prst="rect">
            <a:avLst/>
          </a:prstGeom>
        </p:spPr>
      </p:pic>
      <p:sp>
        <p:nvSpPr>
          <p:cNvPr id="17" name="Text 12"/>
          <p:cNvSpPr txBox="1"/>
          <p:nvPr/>
        </p:nvSpPr>
        <p:spPr>
          <a:xfrm>
            <a:off x="1783080" y="4133088"/>
            <a:ext cx="4023360" cy="411480"/>
          </a:xfrm>
          <a:prstGeom prst="rect">
            <a:avLst/>
          </a:prstGeom>
          <a:noFill/>
          <a:ln/>
        </p:spPr>
        <p:txBody>
          <a:bodyPr wrap="square" lIns="0" tIns="0" rIns="0" bIns="0" rtlCol="0" anchor="ctr"/>
          <a:lstStyle/>
          <a:p>
            <a:pPr indent="0" marL="0">
              <a:buNone/>
            </a:pPr>
            <a:r>
              <a:rPr lang="en-US" sz="1900" b="1" dirty="0">
                <a:solidFill>
                  <a:schemeClr val="accent4"/>
                </a:solidFill>
              </a:rPr>
              <a:t>Recall at stream scale</a:t>
            </a:r>
            <a:endParaRPr lang="en-US" sz="1900" dirty="0"/>
          </a:p>
        </p:txBody>
      </p:sp>
      <p:sp>
        <p:nvSpPr>
          <p:cNvPr id="18" name="Text 13"/>
          <p:cNvSpPr txBox="1"/>
          <p:nvPr/>
        </p:nvSpPr>
        <p:spPr>
          <a:xfrm>
            <a:off x="1783080" y="4590288"/>
            <a:ext cx="4023360" cy="960120"/>
          </a:xfrm>
          <a:prstGeom prst="rect">
            <a:avLst/>
          </a:prstGeom>
          <a:noFill/>
          <a:ln/>
        </p:spPr>
        <p:txBody>
          <a:bodyPr wrap="square" lIns="0" tIns="0" rIns="0" bIns="0" rtlCol="0" anchor="t"/>
          <a:lstStyle/>
          <a:p>
            <a:pPr indent="0" marL="0">
              <a:buNone/>
            </a:pPr>
            <a:r>
              <a:rPr lang="en-US" sz="1350" dirty="0">
                <a:solidFill>
                  <a:schemeClr val="bg1"/>
                </a:solidFill>
              </a:rPr>
              <a:t>At 8.5M words recall falls to 0.23 vs 0.44 for dense RAG; cell centroids are too coarse.</a:t>
            </a:r>
            <a:endParaRPr lang="en-US" sz="1350" dirty="0"/>
          </a:p>
        </p:txBody>
      </p:sp>
      <p:sp>
        <p:nvSpPr>
          <p:cNvPr id="19" name="limitation card 4"/>
          <p:cNvSpPr/>
          <p:nvPr/>
        </p:nvSpPr>
        <p:spPr>
          <a:xfrm>
            <a:off x="6172200" y="3840480"/>
            <a:ext cx="5440680" cy="1828800"/>
          </a:xfrm>
          <a:prstGeom prst="roundRect">
            <a:avLst>
              <a:gd name="adj" fmla="val 6000"/>
            </a:avLst>
          </a:prstGeom>
          <a:solidFill>
            <a:schemeClr val="tx2"/>
          </a:solidFill>
          <a:ln w="9525">
            <a:solidFill>
              <a:schemeClr val="accent6"/>
            </a:solidFill>
            <a:prstDash val="solid"/>
          </a:ln>
        </p:spPr>
      </p:sp>
      <p:sp>
        <p:nvSpPr>
          <p:cNvPr id="20" name="limitation 4 circle"/>
          <p:cNvSpPr/>
          <p:nvPr/>
        </p:nvSpPr>
        <p:spPr>
          <a:xfrm>
            <a:off x="6446520" y="4160520"/>
            <a:ext cx="731520" cy="731520"/>
          </a:xfrm>
          <a:prstGeom prst="ellipse">
            <a:avLst/>
          </a:prstGeom>
          <a:solidFill>
            <a:schemeClr val="accent4">
              <a:alpha val="18000"/>
            </a:schemeClr>
          </a:solidFill>
          <a:ln/>
        </p:spPr>
      </p:sp>
      <p:pic>
        <p:nvPicPr>
          <p:cNvPr id="21" name="limitation 4 icon" descr="preencoded.png">    </p:cNvPr>
          <p:cNvPicPr>
            <a:picLocks noChangeAspect="1"/>
          </p:cNvPicPr>
          <p:nvPr/>
        </p:nvPicPr>
        <p:blipFill>
          <a:blip r:embed="rId4"/>
          <a:stretch>
            <a:fillRect/>
          </a:stretch>
        </p:blipFill>
        <p:spPr>
          <a:xfrm>
            <a:off x="6629400" y="4343400"/>
            <a:ext cx="365760" cy="365760"/>
          </a:xfrm>
          <a:prstGeom prst="rect">
            <a:avLst/>
          </a:prstGeom>
        </p:spPr>
      </p:pic>
      <p:sp>
        <p:nvSpPr>
          <p:cNvPr id="22" name="Text 16"/>
          <p:cNvSpPr txBox="1"/>
          <p:nvPr/>
        </p:nvSpPr>
        <p:spPr>
          <a:xfrm>
            <a:off x="7406640" y="4133088"/>
            <a:ext cx="4023360" cy="411480"/>
          </a:xfrm>
          <a:prstGeom prst="rect">
            <a:avLst/>
          </a:prstGeom>
          <a:noFill/>
          <a:ln/>
        </p:spPr>
        <p:txBody>
          <a:bodyPr wrap="square" lIns="0" tIns="0" rIns="0" bIns="0" rtlCol="0" anchor="ctr"/>
          <a:lstStyle/>
          <a:p>
            <a:pPr indent="0" marL="0">
              <a:buNone/>
            </a:pPr>
            <a:r>
              <a:rPr lang="en-US" sz="1900" b="1" dirty="0">
                <a:solidFill>
                  <a:schemeClr val="accent4"/>
                </a:solidFill>
              </a:rPr>
              <a:t>Reduced-scale baselines</a:t>
            </a:r>
            <a:endParaRPr lang="en-US" sz="1900" dirty="0"/>
          </a:p>
        </p:txBody>
      </p:sp>
      <p:sp>
        <p:nvSpPr>
          <p:cNvPr id="23" name="Text 17"/>
          <p:cNvSpPr txBox="1"/>
          <p:nvPr/>
        </p:nvSpPr>
        <p:spPr>
          <a:xfrm>
            <a:off x="7406640" y="4590288"/>
            <a:ext cx="4023360" cy="960120"/>
          </a:xfrm>
          <a:prstGeom prst="rect">
            <a:avLst/>
          </a:prstGeom>
          <a:noFill/>
          <a:ln/>
        </p:spPr>
        <p:txBody>
          <a:bodyPr wrap="square" lIns="0" tIns="0" rIns="0" bIns="0" rtlCol="0" anchor="t"/>
          <a:lstStyle/>
          <a:p>
            <a:pPr indent="0" marL="0">
              <a:buNone/>
            </a:pPr>
            <a:r>
              <a:rPr lang="en-US" sz="1350" dirty="0">
                <a:solidFill>
                  <a:schemeClr val="bg1"/>
                </a:solidFill>
              </a:rPr>
              <a:t>SARA-lite and AMBER-lite are our re-implementations; EM-LLM ran on 6 of 9 tasks.</a:t>
            </a:r>
            <a:endParaRPr lang="en-US" sz="13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CONCLUSION</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bg1"/>
                </a:solidFill>
              </a:rPr>
              <a:t>Bounded memory, with a sketch deciding what to re-read</a:t>
            </a:r>
            <a:endParaRPr lang="en-US" sz="3400" dirty="0"/>
          </a:p>
        </p:txBody>
      </p:sp>
      <p:sp>
        <p:nvSpPr>
          <p:cNvPr id="4" name="takeaway card 1"/>
          <p:cNvSpPr/>
          <p:nvPr/>
        </p:nvSpPr>
        <p:spPr>
          <a:xfrm>
            <a:off x="548640" y="1783080"/>
            <a:ext cx="3474720" cy="3017520"/>
          </a:xfrm>
          <a:prstGeom prst="roundRect">
            <a:avLst>
              <a:gd name="adj" fmla="val 3636"/>
            </a:avLst>
          </a:prstGeom>
          <a:solidFill>
            <a:schemeClr val="tx2"/>
          </a:solidFill>
          <a:ln w="9525">
            <a:solidFill>
              <a:schemeClr val="accent6"/>
            </a:solidFill>
            <a:prstDash val="solid"/>
          </a:ln>
        </p:spPr>
      </p:sp>
      <p:sp>
        <p:nvSpPr>
          <p:cNvPr id="5" name="takeaway 1 circle"/>
          <p:cNvSpPr/>
          <p:nvPr/>
        </p:nvSpPr>
        <p:spPr>
          <a:xfrm>
            <a:off x="868680" y="2103120"/>
            <a:ext cx="777240" cy="777240"/>
          </a:xfrm>
          <a:prstGeom prst="ellipse">
            <a:avLst/>
          </a:prstGeom>
          <a:solidFill>
            <a:schemeClr val="accent1">
              <a:alpha val="18000"/>
            </a:schemeClr>
          </a:solidFill>
          <a:ln/>
        </p:spPr>
      </p:sp>
      <p:pic>
        <p:nvPicPr>
          <p:cNvPr id="6" name="takeaway 1 icon" descr="preencoded.png">    </p:cNvPr>
          <p:cNvPicPr>
            <a:picLocks noChangeAspect="1"/>
          </p:cNvPicPr>
          <p:nvPr/>
        </p:nvPicPr>
        <p:blipFill>
          <a:blip r:embed="rId1"/>
          <a:stretch>
            <a:fillRect/>
          </a:stretch>
        </p:blipFill>
        <p:spPr>
          <a:xfrm>
            <a:off x="1062990" y="2297430"/>
            <a:ext cx="388620" cy="388620"/>
          </a:xfrm>
          <a:prstGeom prst="rect">
            <a:avLst/>
          </a:prstGeom>
        </p:spPr>
      </p:pic>
      <p:sp>
        <p:nvSpPr>
          <p:cNvPr id="7" name="Text 4"/>
          <p:cNvSpPr txBox="1"/>
          <p:nvPr/>
        </p:nvSpPr>
        <p:spPr>
          <a:xfrm>
            <a:off x="868680" y="3063240"/>
            <a:ext cx="2834640" cy="457200"/>
          </a:xfrm>
          <a:prstGeom prst="rect">
            <a:avLst/>
          </a:prstGeom>
          <a:noFill/>
          <a:ln/>
        </p:spPr>
        <p:txBody>
          <a:bodyPr wrap="square" lIns="0" tIns="0" rIns="0" bIns="0" rtlCol="0" anchor="ctr"/>
          <a:lstStyle/>
          <a:p>
            <a:pPr indent="0" marL="0">
              <a:buNone/>
            </a:pPr>
            <a:r>
              <a:rPr lang="en-US" sz="2400" b="1" dirty="0">
                <a:solidFill>
                  <a:schemeClr val="accent1"/>
                </a:solidFill>
              </a:rPr>
              <a:t>Bounded</a:t>
            </a:r>
            <a:endParaRPr lang="en-US" sz="2400" dirty="0"/>
          </a:p>
        </p:txBody>
      </p:sp>
      <p:sp>
        <p:nvSpPr>
          <p:cNvPr id="8" name="Text 5"/>
          <p:cNvSpPr txBox="1"/>
          <p:nvPr/>
        </p:nvSpPr>
        <p:spPr>
          <a:xfrm>
            <a:off x="868680" y="3566160"/>
            <a:ext cx="2880360" cy="1143000"/>
          </a:xfrm>
          <a:prstGeom prst="rect">
            <a:avLst/>
          </a:prstGeom>
          <a:noFill/>
          <a:ln/>
        </p:spPr>
        <p:txBody>
          <a:bodyPr wrap="square" lIns="0" tIns="0" rIns="0" bIns="0" rtlCol="0" anchor="t"/>
          <a:lstStyle/>
          <a:p>
            <a:pPr indent="0" marL="0">
              <a:buNone/>
            </a:pPr>
            <a:r>
              <a:rPr lang="en-US" sz="1400" dirty="0">
                <a:solidFill>
                  <a:schemeClr val="bg1"/>
                </a:solidFill>
              </a:rPr>
              <a:t>Hot memory stays ≈ 1.0 MB at 8.5M words, against a 146 MB dense index.</a:t>
            </a:r>
            <a:endParaRPr lang="en-US" sz="1400" dirty="0"/>
          </a:p>
        </p:txBody>
      </p:sp>
      <p:sp>
        <p:nvSpPr>
          <p:cNvPr id="9" name="takeaway card 2"/>
          <p:cNvSpPr/>
          <p:nvPr/>
        </p:nvSpPr>
        <p:spPr>
          <a:xfrm>
            <a:off x="4297680" y="1783080"/>
            <a:ext cx="3474720" cy="3017520"/>
          </a:xfrm>
          <a:prstGeom prst="roundRect">
            <a:avLst>
              <a:gd name="adj" fmla="val 3636"/>
            </a:avLst>
          </a:prstGeom>
          <a:solidFill>
            <a:schemeClr val="tx2"/>
          </a:solidFill>
          <a:ln w="9525">
            <a:solidFill>
              <a:schemeClr val="accent6"/>
            </a:solidFill>
            <a:prstDash val="solid"/>
          </a:ln>
        </p:spPr>
      </p:sp>
      <p:sp>
        <p:nvSpPr>
          <p:cNvPr id="10" name="takeaway 2 circle"/>
          <p:cNvSpPr/>
          <p:nvPr/>
        </p:nvSpPr>
        <p:spPr>
          <a:xfrm>
            <a:off x="4617720" y="2103120"/>
            <a:ext cx="777240" cy="777240"/>
          </a:xfrm>
          <a:prstGeom prst="ellipse">
            <a:avLst/>
          </a:prstGeom>
          <a:solidFill>
            <a:schemeClr val="accent2">
              <a:alpha val="18000"/>
            </a:schemeClr>
          </a:solidFill>
          <a:ln/>
        </p:spPr>
      </p:sp>
      <p:pic>
        <p:nvPicPr>
          <p:cNvPr id="11" name="takeaway 2 icon" descr="preencoded.png">    </p:cNvPr>
          <p:cNvPicPr>
            <a:picLocks noChangeAspect="1"/>
          </p:cNvPicPr>
          <p:nvPr/>
        </p:nvPicPr>
        <p:blipFill>
          <a:blip r:embed="rId2"/>
          <a:stretch>
            <a:fillRect/>
          </a:stretch>
        </p:blipFill>
        <p:spPr>
          <a:xfrm>
            <a:off x="4812030" y="2297430"/>
            <a:ext cx="388620" cy="388620"/>
          </a:xfrm>
          <a:prstGeom prst="rect">
            <a:avLst/>
          </a:prstGeom>
        </p:spPr>
      </p:pic>
      <p:sp>
        <p:nvSpPr>
          <p:cNvPr id="12" name="Text 8"/>
          <p:cNvSpPr txBox="1"/>
          <p:nvPr/>
        </p:nvSpPr>
        <p:spPr>
          <a:xfrm>
            <a:off x="4617720" y="3063240"/>
            <a:ext cx="2834640" cy="457200"/>
          </a:xfrm>
          <a:prstGeom prst="rect">
            <a:avLst/>
          </a:prstGeom>
          <a:noFill/>
          <a:ln/>
        </p:spPr>
        <p:txBody>
          <a:bodyPr wrap="square" lIns="0" tIns="0" rIns="0" bIns="0" rtlCol="0" anchor="ctr"/>
          <a:lstStyle/>
          <a:p>
            <a:pPr indent="0" marL="0">
              <a:buNone/>
            </a:pPr>
            <a:r>
              <a:rPr lang="en-US" sz="2400" b="1" dirty="0">
                <a:solidFill>
                  <a:schemeClr val="accent2"/>
                </a:solidFill>
              </a:rPr>
              <a:t>Cheap</a:t>
            </a:r>
            <a:endParaRPr lang="en-US" sz="2400" dirty="0"/>
          </a:p>
        </p:txBody>
      </p:sp>
      <p:sp>
        <p:nvSpPr>
          <p:cNvPr id="13" name="Text 9"/>
          <p:cNvSpPr txBox="1"/>
          <p:nvPr/>
        </p:nvSpPr>
        <p:spPr>
          <a:xfrm>
            <a:off x="4617720" y="3566160"/>
            <a:ext cx="2880360" cy="1143000"/>
          </a:xfrm>
          <a:prstGeom prst="rect">
            <a:avLst/>
          </a:prstGeom>
          <a:noFill/>
          <a:ln/>
        </p:spPr>
        <p:txBody>
          <a:bodyPr wrap="square" lIns="0" tIns="0" rIns="0" bIns="0" rtlCol="0" anchor="t"/>
          <a:lstStyle/>
          <a:p>
            <a:pPr indent="0" marL="0">
              <a:buNone/>
            </a:pPr>
            <a:r>
              <a:rPr lang="en-US" sz="1400" dirty="0">
                <a:solidFill>
                  <a:schemeClr val="bg1"/>
                </a:solidFill>
              </a:rPr>
              <a:t>1,213 tokens and 5.8 s per question; a score of 41.7, ahead of full context, dense RAG, SARA-lite and AMBER-lite.</a:t>
            </a:r>
            <a:endParaRPr lang="en-US" sz="1400" dirty="0"/>
          </a:p>
        </p:txBody>
      </p:sp>
      <p:sp>
        <p:nvSpPr>
          <p:cNvPr id="14" name="takeaway card 3"/>
          <p:cNvSpPr/>
          <p:nvPr/>
        </p:nvSpPr>
        <p:spPr>
          <a:xfrm>
            <a:off x="8046720" y="1783080"/>
            <a:ext cx="3474720" cy="3017520"/>
          </a:xfrm>
          <a:prstGeom prst="roundRect">
            <a:avLst>
              <a:gd name="adj" fmla="val 3636"/>
            </a:avLst>
          </a:prstGeom>
          <a:solidFill>
            <a:schemeClr val="tx2"/>
          </a:solidFill>
          <a:ln w="9525">
            <a:solidFill>
              <a:schemeClr val="accent6"/>
            </a:solidFill>
            <a:prstDash val="solid"/>
          </a:ln>
        </p:spPr>
      </p:sp>
      <p:sp>
        <p:nvSpPr>
          <p:cNvPr id="15" name="takeaway 3 circle"/>
          <p:cNvSpPr/>
          <p:nvPr/>
        </p:nvSpPr>
        <p:spPr>
          <a:xfrm>
            <a:off x="8366760" y="2103120"/>
            <a:ext cx="777240" cy="777240"/>
          </a:xfrm>
          <a:prstGeom prst="ellipse">
            <a:avLst/>
          </a:prstGeom>
          <a:solidFill>
            <a:schemeClr val="accent3">
              <a:alpha val="18000"/>
            </a:schemeClr>
          </a:solidFill>
          <a:ln/>
        </p:spPr>
      </p:sp>
      <p:pic>
        <p:nvPicPr>
          <p:cNvPr id="16" name="takeaway 3 icon" descr="preencoded.png">    </p:cNvPr>
          <p:cNvPicPr>
            <a:picLocks noChangeAspect="1"/>
          </p:cNvPicPr>
          <p:nvPr/>
        </p:nvPicPr>
        <p:blipFill>
          <a:blip r:embed="rId3"/>
          <a:stretch>
            <a:fillRect/>
          </a:stretch>
        </p:blipFill>
        <p:spPr>
          <a:xfrm>
            <a:off x="8561070" y="2297430"/>
            <a:ext cx="388620" cy="388620"/>
          </a:xfrm>
          <a:prstGeom prst="rect">
            <a:avLst/>
          </a:prstGeom>
        </p:spPr>
      </p:pic>
      <p:sp>
        <p:nvSpPr>
          <p:cNvPr id="17" name="Text 12"/>
          <p:cNvSpPr txBox="1"/>
          <p:nvPr/>
        </p:nvSpPr>
        <p:spPr>
          <a:xfrm>
            <a:off x="8366760" y="3063240"/>
            <a:ext cx="2834640" cy="457200"/>
          </a:xfrm>
          <a:prstGeom prst="rect">
            <a:avLst/>
          </a:prstGeom>
          <a:noFill/>
          <a:ln/>
        </p:spPr>
        <p:txBody>
          <a:bodyPr wrap="square" lIns="0" tIns="0" rIns="0" bIns="0" rtlCol="0" anchor="ctr"/>
          <a:lstStyle/>
          <a:p>
            <a:pPr indent="0" marL="0">
              <a:buNone/>
            </a:pPr>
            <a:r>
              <a:rPr lang="en-US" sz="2400" b="1" dirty="0">
                <a:solidFill>
                  <a:schemeClr val="accent3"/>
                </a:solidFill>
              </a:rPr>
              <a:t>Calibrated</a:t>
            </a:r>
            <a:endParaRPr lang="en-US" sz="2400" dirty="0"/>
          </a:p>
        </p:txBody>
      </p:sp>
      <p:sp>
        <p:nvSpPr>
          <p:cNvPr id="18" name="Text 13"/>
          <p:cNvSpPr txBox="1"/>
          <p:nvPr/>
        </p:nvSpPr>
        <p:spPr>
          <a:xfrm>
            <a:off x="8366760" y="3566160"/>
            <a:ext cx="2880360" cy="1143000"/>
          </a:xfrm>
          <a:prstGeom prst="rect">
            <a:avLst/>
          </a:prstGeom>
          <a:noFill/>
          <a:ln/>
        </p:spPr>
        <p:txBody>
          <a:bodyPr wrap="square" lIns="0" tIns="0" rIns="0" bIns="0" rtlCol="0" anchor="t"/>
          <a:lstStyle/>
          <a:p>
            <a:pPr indent="0" marL="0">
              <a:buNone/>
            </a:pPr>
            <a:r>
              <a:rPr lang="en-US" sz="1400" dirty="0">
                <a:solidFill>
                  <a:schemeClr val="bg1"/>
                </a:solidFill>
              </a:rPr>
              <a:t>The Count-Min bound picks where raw text matters (30.0 → 51.5); an LLM left to decide does not.</a:t>
            </a:r>
            <a:endParaRPr lang="en-US" sz="1400" dirty="0"/>
          </a:p>
        </p:txBody>
      </p:sp>
      <p:sp>
        <p:nvSpPr>
          <p:cNvPr id="19" name="Text 14"/>
          <p:cNvSpPr txBox="1"/>
          <p:nvPr/>
        </p:nvSpPr>
        <p:spPr>
          <a:xfrm>
            <a:off x="548640" y="5120640"/>
            <a:ext cx="11064240" cy="411480"/>
          </a:xfrm>
          <a:prstGeom prst="rect">
            <a:avLst/>
          </a:prstGeom>
          <a:noFill/>
          <a:ln/>
        </p:spPr>
        <p:txBody>
          <a:bodyPr wrap="square" lIns="0" tIns="0" rIns="0" bIns="0" rtlCol="0" anchor="ctr"/>
          <a:lstStyle/>
          <a:p>
            <a:pPr indent="0" marL="0">
              <a:buNone/>
            </a:pPr>
            <a:r>
              <a:rPr lang="en-US" sz="1500" dirty="0">
                <a:solidFill>
                  <a:schemeClr val="bg2"/>
                </a:solidFill>
              </a:rPr>
              <a:t>Possible next steps: finer-grained keys for long streams (sub-cell exemplars or a small lexical index over digests), and a multi-hop-aware gate.</a:t>
            </a:r>
            <a:endParaRPr lang="en-US" sz="1500" dirty="0"/>
          </a:p>
        </p:txBody>
      </p:sp>
      <p:sp>
        <p:nvSpPr>
          <p:cNvPr id="20" name="Text 15"/>
          <p:cNvSpPr txBox="1"/>
          <p:nvPr/>
        </p:nvSpPr>
        <p:spPr>
          <a:xfrm>
            <a:off x="548640" y="5623560"/>
            <a:ext cx="11064240" cy="548640"/>
          </a:xfrm>
          <a:prstGeom prst="rect">
            <a:avLst/>
          </a:prstGeom>
          <a:noFill/>
          <a:ln/>
        </p:spPr>
        <p:txBody>
          <a:bodyPr wrap="square" lIns="0" tIns="0" rIns="0" bIns="0" rtlCol="0" anchor="ctr"/>
          <a:lstStyle/>
          <a:p>
            <a:pPr indent="0" marL="0">
              <a:buNone/>
            </a:pPr>
            <a:r>
              <a:rPr lang="en-US" sz="2600" b="1" dirty="0">
                <a:solidFill>
                  <a:schemeClr val="bg1"/>
                </a:solidFill>
              </a:rPr>
              <a:t>Thank you · Questions?</a:t>
            </a:r>
            <a:endParaRPr lang="en-US" sz="2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ketchRAG Console">
  <a:themeElements>
    <a:clrScheme name="SketchRAG Console">
      <a:dk1>
        <a:srgbClr val="0B1120"/>
      </a:dk1>
      <a:lt1>
        <a:srgbClr val="FFFFFF"/>
      </a:lt1>
      <a:dk2>
        <a:srgbClr val="151F30"/>
      </a:dk2>
      <a:lt2>
        <a:srgbClr val="8A9AB2"/>
      </a:lt2>
      <a:accent1>
        <a:srgbClr val="2DD4BF"/>
      </a:accent1>
      <a:accent2>
        <a:srgbClr val="60A5FA"/>
      </a:accent2>
      <a:accent3>
        <a:srgbClr val="A78BFA"/>
      </a:accent3>
      <a:accent4>
        <a:srgbClr val="FBBF24"/>
      </a:accent4>
      <a:accent5>
        <a:srgbClr val="F27FBA"/>
      </a:accent5>
      <a:accent6>
        <a:srgbClr val="233248"/>
      </a:accent6>
      <a:hlink>
        <a:srgbClr val="60A5FA"/>
      </a:hlink>
      <a:folHlink>
        <a:srgbClr val="A78BFA"/>
      </a:folHlink>
    </a:clrScheme>
    <a:fontScheme name="SketchRAG Consol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SketchRAG</dc:title>
  <dc:subject>PptxGenJS Presentation</dc:subject>
  <dc:creator>Ranjith Kumar, Bhuvan S M, Nooh K, Hariprashanth M</dc:creator>
  <cp:lastModifiedBy>Ranjith Kumar, Bhuvan S M, Nooh K, Hariprashanth M</cp:lastModifiedBy>
  <cp:revision>1</cp:revision>
  <dcterms:created xsi:type="dcterms:W3CDTF">2026-10-17T04:34:08Z</dcterms:created>
  <dcterms:modified xsi:type="dcterms:W3CDTF">2026-10-17T04:34:08Z</dcterms:modified>
</cp:coreProperties>
</file>